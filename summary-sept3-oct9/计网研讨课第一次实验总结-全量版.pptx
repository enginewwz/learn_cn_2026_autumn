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1005840"/>
            <a:ext cx="109728" cy="2103120"/>
          </a:xfrm>
          <a:prstGeom prst="rect">
            <a:avLst/>
          </a:prstGeom>
          <a:solidFill>
            <a:srgbClr val="2F6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960120"/>
            <a:ext cx="98755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400" b="1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rPr>
              <a:t>计网研讨课 · 第一次实验总结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10515600" cy="12801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从网络结构到网络性能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560320"/>
            <a:ext cx="1051560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6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Wireshark · Socket · Switch · STP · Bufferbloat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303520"/>
            <a:ext cx="502920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吴峥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2024K80099013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5303520"/>
            <a:ext cx="402336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lnSpc>
                <a:spcPct val="104000"/>
              </a:lnSpc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2026.09.03 — 2026.10.09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6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6868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950" b="1">
                <a:solidFill>
                  <a:srgbClr val="2F6FB0"/>
                </a:solidFill>
                <a:latin typeface="Microsoft YaHei"/>
                <a:ea typeface="Microsoft YaHei"/>
                <a:cs typeface="Microsoft YaHei"/>
              </a:rPr>
              <a:t>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2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五次实验，实际上围绕两个主题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91656"/>
            <a:ext cx="11155680" cy="9144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6868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800" b="0">
                <a:solidFill>
                  <a:srgbClr val="5C6978"/>
                </a:solidFill>
                <a:latin typeface="Microsoft YaHei"/>
                <a:ea typeface="Microsoft YaHei"/>
                <a:cs typeface="Microsoft YaHei"/>
              </a:rPr>
              <a:t>计网研讨课第一次实验总结 · 吴峥 · 2024K80099013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55664"/>
            <a:ext cx="100584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lnSpc>
                <a:spcPct val="104000"/>
              </a:lnSpc>
              <a:spcAft>
                <a:spcPts val="200"/>
              </a:spcAft>
            </a:pPr>
            <a:r>
              <a:rPr sz="800" b="0">
                <a:solidFill>
                  <a:srgbClr val="5C697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548640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00" b="1">
                <a:solidFill>
                  <a:srgbClr val="2F6FB0"/>
                </a:solidFill>
                <a:latin typeface="Microsoft YaHei"/>
                <a:ea typeface="Microsoft YaHei"/>
                <a:cs typeface="Microsoft YaHei"/>
              </a:rPr>
              <a:t>两个主题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5486400" cy="1737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05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我们做这五次实验，实际上围绕两个主题：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05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1. 理解网络的结构：分层、封装、协议栈，以及物理层 / 数据链路层 / 应用层设备与接口。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05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2. 衡量并优化网络的性能：时延、吞吐、丢包、排队；Bufferbloat 与 AQM。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39496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00" b="1">
                <a:solidFill>
                  <a:srgbClr val="2F6FB0"/>
                </a:solidFill>
                <a:latin typeface="Microsoft YaHei"/>
                <a:ea typeface="Microsoft YaHei"/>
                <a:cs typeface="Microsoft YaHei"/>
              </a:rPr>
              <a:t>一条主线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508760"/>
            <a:ext cx="5394960" cy="1737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019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1、2 先看应用层和协议栈；3 进入数据链路层设备；4 解决交换机环路；5 看上层协议如何反过来影响下层队列。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019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3 → 4 → 5 有递进：STP 解决环路；AQM 解决大缓存导致的高队列延迟。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3429000"/>
          <a:ext cx="11155680" cy="24231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40080"/>
                <a:gridCol w="1828800"/>
                <a:gridCol w="4572000"/>
                <a:gridCol w="4114800"/>
              </a:tblGrid>
              <a:tr h="4038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日期</a:t>
                      </a:r>
                    </a:p>
                  </a:txBody>
                  <a:tcPr marL="54864" marR="45720" marT="27432" marB="27432" anchor="ctr">
                    <a:solidFill>
                      <a:srgbClr val="2F6FB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</a:t>
                      </a:r>
                    </a:p>
                  </a:txBody>
                  <a:tcPr marL="54864" marR="45720" marT="27432" marB="27432" anchor="ctr">
                    <a:solidFill>
                      <a:srgbClr val="2F6FB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做了什么</a:t>
                      </a:r>
                    </a:p>
                  </a:txBody>
                  <a:tcPr marL="54864" marR="45720" marT="27432" marB="27432" anchor="ctr">
                    <a:solidFill>
                      <a:srgbClr val="2F6FB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关键结果 / 关键词</a:t>
                      </a:r>
                    </a:p>
                  </a:txBody>
                  <a:tcPr marL="54864" marR="45720" marT="27432" marB="27432" anchor="ctr">
                    <a:solidFill>
                      <a:srgbClr val="2F6FB0"/>
                    </a:solidFill>
                  </a:tcPr>
                </a:tc>
              </a:tr>
              <a:tr h="4038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9/3</a:t>
                      </a:r>
                    </a:p>
                  </a:txBody>
                  <a:tcPr marL="54864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互联网体系结构初识</a:t>
                      </a:r>
                    </a:p>
                  </a:txBody>
                  <a:tcPr marL="54864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Mininet + Wireshark；2 万站点时延测量</a:t>
                      </a:r>
                    </a:p>
                  </a:txBody>
                  <a:tcPr marL="54864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20,000 → 2,909；Total 58.6× c-latency</a:t>
                      </a:r>
                    </a:p>
                  </a:txBody>
                  <a:tcPr marL="54864" marR="45720" marT="27432" marB="27432"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9/10</a:t>
                      </a:r>
                    </a:p>
                  </a:txBody>
                  <a:tcPr marL="54864" marR="45720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Socket 应用编程</a:t>
                      </a:r>
                    </a:p>
                  </a:txBody>
                  <a:tcPr marL="54864" marR="45720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+ Linux Socket；HTTP/HTTPS 服务器；epoll 端口复用</a:t>
                      </a:r>
                    </a:p>
                  </a:txBody>
                  <a:tcPr marL="54864" marR="45720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单线程事件循环 + 每连接状态机</a:t>
                      </a:r>
                    </a:p>
                  </a:txBody>
                  <a:tcPr marL="54864" marR="45720" marT="27432" marB="27432" anchor="ctr">
                    <a:solidFill>
                      <a:srgbClr val="F7F9FC"/>
                    </a:solidFill>
                  </a:tcPr>
                </a:tc>
              </a:tr>
              <a:tr h="4038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9/17</a:t>
                      </a:r>
                    </a:p>
                  </a:txBody>
                  <a:tcPr marL="54864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Hub 与 Switch</a:t>
                      </a:r>
                    </a:p>
                  </a:txBody>
                  <a:tcPr marL="54864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框架填空；广播 vs 自学习转发；环路实验</a:t>
                      </a:r>
                    </a:p>
                  </a:txBody>
                  <a:tcPr marL="54864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广播风暴 423.4×；Switch 合计 2.12×</a:t>
                      </a:r>
                    </a:p>
                  </a:txBody>
                  <a:tcPr marL="54864" marR="45720" marT="27432" marB="27432"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9/24</a:t>
                      </a:r>
                    </a:p>
                  </a:txBody>
                  <a:tcPr marL="54864" marR="45720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STP 生成树</a:t>
                      </a:r>
                    </a:p>
                  </a:txBody>
                  <a:tcPr marL="54864" marR="45720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分布式竞选；端口状态；BPDU</a:t>
                      </a:r>
                    </a:p>
                  </a:txBody>
                  <a:tcPr marL="54864" marR="45720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 条链路 → 6 条树边，3 条阻塞</a:t>
                      </a:r>
                    </a:p>
                  </a:txBody>
                  <a:tcPr marL="54864" marR="45720" marT="27432" marB="27432" anchor="ctr">
                    <a:solidFill>
                      <a:srgbClr val="F7F9FC"/>
                    </a:solidFill>
                  </a:tcPr>
                </a:tc>
              </a:tr>
              <a:tr h="4038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10/9</a:t>
                      </a:r>
                    </a:p>
                  </a:txBody>
                  <a:tcPr marL="54864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Bufferbloat</a:t>
                      </a:r>
                    </a:p>
                  </a:txBody>
                  <a:tcPr marL="54864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maxq 扫描；taildrop / RED / CoDel；TSO/GSO</a:t>
                      </a:r>
                    </a:p>
                  </a:txBody>
                  <a:tcPr marL="54864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RTT 652 → 57 ms；CoDel p95 59 ms</a:t>
                      </a:r>
                    </a:p>
                  </a:txBody>
                  <a:tcPr marL="54864" marR="4572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6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6868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950" b="1">
                <a:solidFill>
                  <a:srgbClr val="2F6FB0"/>
                </a:solidFill>
                <a:latin typeface="Microsoft YaHei"/>
                <a:ea typeface="Microsoft YaHei"/>
                <a:cs typeface="Microsoft YaHei"/>
              </a:rPr>
              <a:t>实验 1 · 互联网体系结构初识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2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一次网页访问里，能看到哪些协议？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91656"/>
            <a:ext cx="11155680" cy="9144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6868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800" b="0">
                <a:solidFill>
                  <a:srgbClr val="5C6978"/>
                </a:solidFill>
                <a:latin typeface="Microsoft YaHei"/>
                <a:ea typeface="Microsoft YaHei"/>
                <a:cs typeface="Microsoft YaHei"/>
              </a:rPr>
              <a:t>计网研讨课第一次实验总结 · 吴峥 · 2024K80099013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55664"/>
            <a:ext cx="100584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lnSpc>
                <a:spcPct val="104000"/>
              </a:lnSpc>
              <a:spcAft>
                <a:spcPts val="200"/>
              </a:spcAft>
            </a:pPr>
            <a:r>
              <a:rPr sz="800" b="0">
                <a:solidFill>
                  <a:srgbClr val="5C697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234440"/>
          <a:ext cx="7452360" cy="4343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77240"/>
                <a:gridCol w="3291840"/>
                <a:gridCol w="3383280"/>
              </a:tblGrid>
              <a:tr h="7239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协议</a:t>
                      </a:r>
                    </a:p>
                  </a:txBody>
                  <a:tcPr marL="54864" marR="45720" marT="27432" marB="27432" anchor="ctr">
                    <a:solidFill>
                      <a:srgbClr val="2F6FB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主要作用</a:t>
                      </a:r>
                    </a:p>
                  </a:txBody>
                  <a:tcPr marL="54864" marR="45720" marT="27432" marB="27432" anchor="ctr">
                    <a:solidFill>
                      <a:srgbClr val="2F6FB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本次实验中的表现</a:t>
                      </a:r>
                    </a:p>
                  </a:txBody>
                  <a:tcPr marL="54864" marR="45720" marT="27432" marB="27432" anchor="ctr">
                    <a:solidFill>
                      <a:srgbClr val="2F6FB0"/>
                    </a:solidFill>
                  </a:tcPr>
                </a:tc>
              </a:tr>
              <a:tr h="7239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ARP</a:t>
                      </a:r>
                    </a:p>
                  </a:txBody>
                  <a:tcPr marL="54864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根据同一链路中的 IP 地址查询对应的 MAC 地址</a:t>
                      </a:r>
                    </a:p>
                  </a:txBody>
                  <a:tcPr marL="54864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出现 “who has” 请求和 “is at” 应答</a:t>
                      </a:r>
                    </a:p>
                  </a:txBody>
                  <a:tcPr marL="54864" marR="45720" marT="27432" marB="27432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DNS</a:t>
                      </a:r>
                    </a:p>
                  </a:txBody>
                  <a:tcPr marL="54864" marR="45720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将容易记忆的域名解析为 IP 地址</a:t>
                      </a:r>
                    </a:p>
                  </a:txBody>
                  <a:tcPr marL="54864" marR="45720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www.ucas.ac.cn 解析为 124.16.77.5</a:t>
                      </a:r>
                    </a:p>
                  </a:txBody>
                  <a:tcPr marL="54864" marR="45720" marT="27432" marB="27432" anchor="ctr">
                    <a:solidFill>
                      <a:srgbClr val="F7F9FC"/>
                    </a:solidFill>
                  </a:tcPr>
                </a:tc>
              </a:tr>
              <a:tr h="7239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TCP</a:t>
                      </a:r>
                    </a:p>
                  </a:txBody>
                  <a:tcPr marL="54864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在通信双方之间建立可靠的字节流连接</a:t>
                      </a:r>
                    </a:p>
                  </a:txBody>
                  <a:tcPr marL="54864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与服务器 443 端口完成握手、传输和关闭</a:t>
                      </a:r>
                    </a:p>
                  </a:txBody>
                  <a:tcPr marL="54864" marR="45720" marT="27432" marB="27432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HTTP</a:t>
                      </a:r>
                    </a:p>
                  </a:txBody>
                  <a:tcPr marL="54864" marR="45720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规定浏览器或下载工具与 Web 服务器的请求和响应格式</a:t>
                      </a:r>
                    </a:p>
                  </a:txBody>
                  <a:tcPr marL="54864" marR="45720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本次请求使用 HTTPS，HTTP 内容没有以明文显示</a:t>
                      </a:r>
                    </a:p>
                  </a:txBody>
                  <a:tcPr marL="54864" marR="45720" marT="27432" marB="27432" anchor="ctr">
                    <a:solidFill>
                      <a:srgbClr val="F7F9FC"/>
                    </a:solidFill>
                  </a:tcPr>
                </a:tc>
              </a:tr>
              <a:tr h="7239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HTTPS</a:t>
                      </a:r>
                    </a:p>
                  </a:txBody>
                  <a:tcPr marL="54864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 HTTP 与 TCP 之间加入 TLS 加密和身份验证</a:t>
                      </a:r>
                    </a:p>
                  </a:txBody>
                  <a:tcPr marL="54864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Wireshark 中可以看到 TLS 握手及后续加密数据</a:t>
                      </a:r>
                    </a:p>
                  </a:txBody>
                  <a:tcPr marL="54864" marR="4572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183879" y="1234440"/>
            <a:ext cx="342900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19" b="1">
                <a:solidFill>
                  <a:srgbClr val="2F6FB0"/>
                </a:solidFill>
                <a:latin typeface="Microsoft YaHei"/>
                <a:ea typeface="Microsoft YaHei"/>
                <a:cs typeface="Microsoft YaHei"/>
              </a:rPr>
              <a:t>为什么先列这几个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1508760"/>
            <a:ext cx="3429000" cy="2468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89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它们是某条消息各自封装栈的最顶层。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89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实际上可以继续向下展开：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89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Ethernet &lt; IP &lt; UDP &lt; DNS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89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Ethernet &lt; IP &lt; TCP &lt; TLS &lt; HTTPS 数据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89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这种展开直接对应网络的分层结构。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4114800"/>
            <a:ext cx="342900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19" b="1">
                <a:solidFill>
                  <a:srgbClr val="2F6FB0"/>
                </a:solidFill>
                <a:latin typeface="Microsoft YaHei"/>
                <a:ea typeface="Microsoft YaHei"/>
                <a:cs typeface="Microsoft YaHei"/>
              </a:rPr>
              <a:t>ARP 的特殊之处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4389120"/>
            <a:ext cx="3429000" cy="9601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89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ARP 在实验 6 中也遇到：直接通过路由器发 ARP 请求。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89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它直接作为以太网的载荷存在，没有更上层的封装。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669280"/>
            <a:ext cx="1115568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980" b="1">
                <a:solidFill>
                  <a:srgbClr val="2F6FB0"/>
                </a:solidFill>
                <a:latin typeface="Microsoft YaHei"/>
                <a:ea typeface="Microsoft YaHei"/>
                <a:cs typeface="Microsoft YaHei"/>
              </a:rPr>
              <a:t>实验环境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943600"/>
            <a:ext cx="1115568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869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WSL 中配置本机 mininet 环境；用 Wireshark 观察访问网站时产生的数据包，初步了解 ARP、DNS、TCP、HTTP、HTTPS 的作用，以及协议之间的分层与封装关系。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6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6868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950" b="1">
                <a:solidFill>
                  <a:srgbClr val="2F6FB0"/>
                </a:solidFill>
                <a:latin typeface="Microsoft YaHei"/>
                <a:ea typeface="Microsoft YaHei"/>
                <a:cs typeface="Microsoft YaHei"/>
              </a:rPr>
              <a:t>实验 1 · 一次访问的协议时间线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2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TCP/TLS 既在顶层，也在别人的下层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91656"/>
            <a:ext cx="11155680" cy="9144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6868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800" b="0">
                <a:solidFill>
                  <a:srgbClr val="5C6978"/>
                </a:solidFill>
                <a:latin typeface="Microsoft YaHei"/>
                <a:ea typeface="Microsoft YaHei"/>
                <a:cs typeface="Microsoft YaHei"/>
              </a:rPr>
              <a:t>计网研讨课第一次实验总结 · 吴峥 · 2024K80099013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55664"/>
            <a:ext cx="100584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lnSpc>
                <a:spcPct val="104000"/>
              </a:lnSpc>
              <a:spcAft>
                <a:spcPts val="200"/>
              </a:spcAft>
            </a:pPr>
            <a:r>
              <a:rPr sz="800" b="0">
                <a:solidFill>
                  <a:srgbClr val="5C697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234440"/>
          <a:ext cx="11155680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45920"/>
                <a:gridCol w="1005840"/>
                <a:gridCol w="8503920"/>
              </a:tblGrid>
              <a:tr h="52251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54864" marR="45720" marT="27432" marB="27432" anchor="ctr">
                    <a:solidFill>
                      <a:srgbClr val="2F6FB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包编号</a:t>
                      </a:r>
                    </a:p>
                  </a:txBody>
                  <a:tcPr marL="54864" marR="45720" marT="27432" marB="27432" anchor="ctr">
                    <a:solidFill>
                      <a:srgbClr val="2F6FB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观察结果</a:t>
                      </a:r>
                    </a:p>
                  </a:txBody>
                  <a:tcPr marL="54864" marR="45720" marT="27432" marB="27432" anchor="ctr">
                    <a:solidFill>
                      <a:srgbClr val="2F6FB0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3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DNS 查询</a:t>
                      </a:r>
                    </a:p>
                  </a:txBody>
                  <a:tcPr marL="54864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3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1～4</a:t>
                      </a:r>
                    </a:p>
                  </a:txBody>
                  <a:tcPr marL="54864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3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h1 同时查询域名的 IPv4（A）和 IPv6（AAAA）地址，A 记录返回 124.16.77.5</a:t>
                      </a:r>
                    </a:p>
                  </a:txBody>
                  <a:tcPr marL="54864" marR="45720" marT="27432" marB="27432" anchor="ctr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3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TCP 建立连接</a:t>
                      </a:r>
                    </a:p>
                  </a:txBody>
                  <a:tcPr marL="54864" marR="45720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3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5～7</a:t>
                      </a:r>
                    </a:p>
                  </a:txBody>
                  <a:tcPr marL="54864" marR="45720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3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客户端发送 SYN，服务器返回 SYN/ACK，客户端再发送 ACK，完成三次握手</a:t>
                      </a:r>
                    </a:p>
                  </a:txBody>
                  <a:tcPr marL="54864" marR="45720" marT="27432" marB="27432" anchor="ctr">
                    <a:solidFill>
                      <a:srgbClr val="F7F9FC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3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TLS 握手</a:t>
                      </a:r>
                    </a:p>
                  </a:txBody>
                  <a:tcPr marL="54864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3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8～18</a:t>
                      </a:r>
                    </a:p>
                  </a:txBody>
                  <a:tcPr marL="54864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3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双方协商加密参数并交换服务器证书，为 HTTPS 通信建立安全通道</a:t>
                      </a:r>
                    </a:p>
                  </a:txBody>
                  <a:tcPr marL="54864" marR="45720" marT="27432" marB="27432" anchor="ctr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3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网页数据传输</a:t>
                      </a:r>
                    </a:p>
                  </a:txBody>
                  <a:tcPr marL="54864" marR="45720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3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19～66</a:t>
                      </a:r>
                    </a:p>
                  </a:txBody>
                  <a:tcPr marL="54864" marR="45720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3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服务器向客户端连续发送加密的网页数据，客户端发送 ACK 确认</a:t>
                      </a:r>
                    </a:p>
                  </a:txBody>
                  <a:tcPr marL="54864" marR="45720" marT="27432" marB="27432" anchor="ctr">
                    <a:solidFill>
                      <a:srgbClr val="F7F9FC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3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TCP 关闭连接</a:t>
                      </a:r>
                    </a:p>
                  </a:txBody>
                  <a:tcPr marL="54864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3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67～69</a:t>
                      </a:r>
                    </a:p>
                  </a:txBody>
                  <a:tcPr marL="54864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3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双方使用 FIN/ACK 结束本次连接</a:t>
                      </a:r>
                    </a:p>
                  </a:txBody>
                  <a:tcPr marL="54864" marR="45720" marT="27432" marB="27432" anchor="ctr"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3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ARP 交互</a:t>
                      </a:r>
                    </a:p>
                  </a:txBody>
                  <a:tcPr marL="54864" marR="45720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3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70～75</a:t>
                      </a:r>
                    </a:p>
                  </a:txBody>
                  <a:tcPr marL="54864" marR="45720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3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网络节点查询并应答局域网 IP 地址对应的 MAC 地址</a:t>
                      </a:r>
                    </a:p>
                  </a:txBody>
                  <a:tcPr marL="54864" marR="45720" marT="27432" marB="27432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029200"/>
            <a:ext cx="548640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50" b="1">
                <a:solidFill>
                  <a:srgbClr val="2F6FB0"/>
                </a:solidFill>
                <a:latin typeface="Microsoft YaHei"/>
                <a:ea typeface="Microsoft YaHei"/>
                <a:cs typeface="Microsoft YaHei"/>
              </a:rPr>
              <a:t>为什么 TCP/TLS 出现两次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303520"/>
            <a:ext cx="5486400" cy="1005839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19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握手阶段它们在封装栈顶层；传输阶段 HTTP 又建立在 TLS/TCP 之上。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19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分层不是“一层只干一件事”，而是按阶段复用。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5029200"/>
            <a:ext cx="548640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50" b="1">
                <a:solidFill>
                  <a:srgbClr val="2F6FB0"/>
                </a:solidFill>
                <a:latin typeface="Microsoft YaHei"/>
                <a:ea typeface="Microsoft YaHei"/>
                <a:cs typeface="Microsoft YaHei"/>
              </a:rPr>
              <a:t>一个可以提的细节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5303520"/>
            <a:ext cx="5486400" cy="1005839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19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TCP 三次握手、四次挥手、TLS 握手不展开。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19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但服务器把“确认客户端 FIN”和“发送自己的 FIN”合并在同一个 FIN, ACK 包中。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6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6868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950" b="1">
                <a:solidFill>
                  <a:srgbClr val="2F6FB0"/>
                </a:solidFill>
                <a:latin typeface="Microsoft YaHei"/>
                <a:ea typeface="Microsoft YaHei"/>
                <a:cs typeface="Microsoft YaHei"/>
              </a:rPr>
              <a:t>实验 1 · 时延测量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2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真实互联网比“光速直线”慢多少？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91656"/>
            <a:ext cx="11155680" cy="9144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6868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800" b="0">
                <a:solidFill>
                  <a:srgbClr val="5C6978"/>
                </a:solidFill>
                <a:latin typeface="Microsoft YaHei"/>
                <a:ea typeface="Microsoft YaHei"/>
                <a:cs typeface="Microsoft YaHei"/>
              </a:rPr>
              <a:t>计网研讨课第一次实验总结 · 吴峥 · 2024K80099013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55664"/>
            <a:ext cx="100584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lnSpc>
                <a:spcPct val="104000"/>
              </a:lnSpc>
              <a:spcAft>
                <a:spcPts val="200"/>
              </a:spcAft>
            </a:pPr>
            <a:r>
              <a:rPr sz="800" b="0">
                <a:solidFill>
                  <a:srgbClr val="5C6978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548640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00" b="1">
                <a:solidFill>
                  <a:srgbClr val="2F6FB0"/>
                </a:solidFill>
                <a:latin typeface="Microsoft YaHei"/>
                <a:ea typeface="Microsoft YaHei"/>
                <a:cs typeface="Microsoft YaHei"/>
              </a:rPr>
              <a:t>四个指标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5486400" cy="2560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019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Ping：向实际连接的服务器 IP 发送 3 次 ICMP Echo，取最小往返时间。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019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DNS：完成域名解析所需的时间。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019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TCP transfer：从收到 HTTP 响应的第一个字节，到接收完最后一个字节的时间。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019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Total time：从开始请求到完整接收响应的总时间。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251960"/>
            <a:ext cx="548640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80" b="1">
                <a:solidFill>
                  <a:srgbClr val="2F6FB0"/>
                </a:solidFill>
                <a:latin typeface="Microsoft YaHei"/>
                <a:ea typeface="Microsoft YaHei"/>
                <a:cs typeface="Microsoft YaHei"/>
              </a:rPr>
              <a:t>实现流程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526280"/>
            <a:ext cx="5486400" cy="822959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19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下数据库 → 读取网站列表 → 对每个网站执行访问和延迟测量 → 计算测量点到服务器的大圆距离 → 绘制图像。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19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横轴 c-latency = 2 × distance / c，c = 299792.458 km/s，用真空光速估一个下界。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40"/>
            <a:ext cx="539496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00" b="1">
                <a:solidFill>
                  <a:srgbClr val="2F6FB0"/>
                </a:solidFill>
                <a:latin typeface="Microsoft YaHei"/>
                <a:ea typeface="Microsoft YaHei"/>
                <a:cs typeface="Microsoft YaHei"/>
              </a:rPr>
              <a:t>数据量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508760"/>
            <a:ext cx="5394960" cy="19202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0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根据抓到的网站列表访问网站，发生错误/超时的概率不小；小范围实验有效数据少，图毛刺多。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0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最终租了一个阿里云服务器，花了约 3 小时，从 20,000 个网站中抓了 2,909 条有效数据。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3611880"/>
            <a:ext cx="539496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00" b="1">
                <a:solidFill>
                  <a:srgbClr val="2F6FB0"/>
                </a:solidFill>
                <a:latin typeface="Microsoft YaHei"/>
                <a:ea typeface="Microsoft YaHei"/>
                <a:cs typeface="Microsoft YaHei"/>
              </a:rPr>
              <a:t>比较方式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886200"/>
            <a:ext cx="5394960" cy="23774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8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实际耗时 ÷ c-latency。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8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四条曲线：Ping / DNS / TCP transfer / Total HTTP time。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8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中位数越接近 1×，越接近传播下界；越往右，说明协议栈和网络路径带来的额外开销越大。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486400"/>
            <a:ext cx="548640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980" b="1">
                <a:solidFill>
                  <a:srgbClr val="2F6FB0"/>
                </a:solidFill>
                <a:latin typeface="Microsoft YaHei"/>
                <a:ea typeface="Microsoft YaHei"/>
                <a:cs typeface="Microsoft YaHei"/>
              </a:rPr>
              <a:t>结果概览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760720"/>
            <a:ext cx="548640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869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真实互联网显著慢于真空光速；差距来自绕路、转发、DNS、TLS 和服务器处理。越往上层，额外开销越大。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6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6868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950" b="1">
                <a:solidFill>
                  <a:srgbClr val="2F6FB0"/>
                </a:solidFill>
                <a:latin typeface="Microsoft YaHei"/>
                <a:ea typeface="Microsoft YaHei"/>
                <a:cs typeface="Microsoft YaHei"/>
              </a:rPr>
              <a:t>实验 1 · 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2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真实互联网显著慢于真空光速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91656"/>
            <a:ext cx="11155680" cy="9144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6868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800" b="0">
                <a:solidFill>
                  <a:srgbClr val="5C6978"/>
                </a:solidFill>
                <a:latin typeface="Microsoft YaHei"/>
                <a:ea typeface="Microsoft YaHei"/>
                <a:cs typeface="Microsoft YaHei"/>
              </a:rPr>
              <a:t>计网研讨课第一次实验总结 · 吴峥 · 2024K80099013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55664"/>
            <a:ext cx="100584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lnSpc>
                <a:spcPct val="104000"/>
              </a:lnSpc>
              <a:spcAft>
                <a:spcPts val="200"/>
              </a:spcAft>
            </a:pPr>
            <a:r>
              <a:rPr sz="800" b="0">
                <a:solidFill>
                  <a:srgbClr val="5C6978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pic>
        <p:nvPicPr>
          <p:cNvPr id="8" name="Picture 7" descr="01-latency-inflation-c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71" y="1188720"/>
            <a:ext cx="6662057" cy="4663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879592"/>
            <a:ext cx="67665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19" b="0">
                <a:solidFill>
                  <a:srgbClr val="5C6978"/>
                </a:solidFill>
                <a:latin typeface="Microsoft YaHei"/>
                <a:ea typeface="Microsoft YaHei"/>
                <a:cs typeface="Microsoft YaHei"/>
              </a:rPr>
              <a:t>四条曲线的中位数都在 1× 右侧；Ping 最靠左、最陡，Total 最靠右、长尾最长。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188720"/>
            <a:ext cx="416052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80" b="1">
                <a:solidFill>
                  <a:srgbClr val="2F6FB0"/>
                </a:solidFill>
                <a:latin typeface="Microsoft YaHei"/>
                <a:ea typeface="Microsoft YaHei"/>
                <a:cs typeface="Microsoft YaHei"/>
              </a:rPr>
              <a:t>中位数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463040"/>
            <a:ext cx="4160520" cy="19202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6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Ping：4.0×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6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DNS：11.1×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6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TCP transfer：4.5×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6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Total HTTP：58.6×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3063240"/>
            <a:ext cx="416052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50" b="1">
                <a:solidFill>
                  <a:srgbClr val="2F6FB0"/>
                </a:solidFill>
                <a:latin typeface="Microsoft YaHei"/>
                <a:ea typeface="Microsoft YaHei"/>
                <a:cs typeface="Microsoft YaHei"/>
              </a:rPr>
              <a:t>为什么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3337560"/>
            <a:ext cx="4160520" cy="2651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88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Ping 只走网络层/传输层，最接近传播下界，离散度也最小。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88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DNS 受缓存和上游查询影响，离散大。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88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TCP transfer 在目标服务器/缓存较近时衡量的是带宽，约 1/3 样本 &lt; 1×。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88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Total 叠加 DNS、建连、TLS、服务器处理和下载，所以倍数最大。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6868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95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实验 2 · Socket 应用编程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2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用 socket 把 HTTP/HTTPS 请求当成文件来处理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91656"/>
            <a:ext cx="11155680" cy="9144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6868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800" b="0">
                <a:solidFill>
                  <a:srgbClr val="5C6978"/>
                </a:solidFill>
                <a:latin typeface="Microsoft YaHei"/>
                <a:ea typeface="Microsoft YaHei"/>
                <a:cs typeface="Microsoft YaHei"/>
              </a:rPr>
              <a:t>计网研讨课第一次实验总结 · 吴峥 · 2024K80099013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55664"/>
            <a:ext cx="100584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lnSpc>
                <a:spcPct val="104000"/>
              </a:lnSpc>
              <a:spcAft>
                <a:spcPts val="200"/>
              </a:spcAft>
            </a:pPr>
            <a:r>
              <a:rPr sz="800" b="0">
                <a:solidFill>
                  <a:srgbClr val="5C6978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0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实验拓扑</a:t>
            </a:r>
          </a:p>
        </p:txBody>
      </p:sp>
      <p:pic>
        <p:nvPicPr>
          <p:cNvPr id="9" name="Picture 8" descr="sept10-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11" y="1481328"/>
            <a:ext cx="5096576" cy="1234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2743200"/>
            <a:ext cx="53949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19" b="0">
                <a:solidFill>
                  <a:srgbClr val="5C6978"/>
                </a:solidFill>
                <a:latin typeface="Microsoft YaHei"/>
                <a:ea typeface="Microsoft YaHei"/>
                <a:cs typeface="Microsoft YaHei"/>
              </a:rPr>
              <a:t>拓扑：h2 → s1 → h1；s1 是 OVS 交换机，h1-s1 链路 100 Mbit/s、10 ms。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63240"/>
            <a:ext cx="539496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5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socket 是什么 / 实验两步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37560"/>
            <a:ext cx="5394960" cy="1874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4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socket 接口为应用层提供了一个传输层（TCP/UDP）的类文件系统抽象。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4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1. 框架已经给定了 socket 生命周期，允许我们像处理普通文件一样处理每个请求；按状态码表格逐项处理 HTTP/HTTPS 文本。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4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2. 实验要求多请求并行处理；这里选择 epoll 端口复用，而不是多线程。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4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挑战：对网络库不熟时，理解 epoll 并不轻松；它和直接多线程的方案区别很大。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143000"/>
            <a:ext cx="548640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8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epoll 的难点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1417320"/>
            <a:ext cx="5486400" cy="2651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6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不是“多开几个线程”那么简单：一个线程里同时维护多个连接。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6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每个连接有自己的状态、读缓冲、写缓冲和文件进度。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6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事件就绪时处理；做不下去就保存现场、改关注事件、返回。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6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端口复用更像“把任务切碎再合并”：自己维护进入/返回点，调度交给 epoll。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4160520"/>
            <a:ext cx="548640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19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和 pthread 的关系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4434840"/>
            <a:ext cx="5486400" cy="11887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88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如果局限于单核来理解，和 pthread 处理起来类似；不同是你需要自己维护一个内部的读写缓冲，处理清楚进入和返回的过程。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88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调度其实也是上层维护好的（主要指睡眠和唤醒的过程）。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349240"/>
            <a:ext cx="539496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96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本实验实现内容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623559"/>
            <a:ext cx="539496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84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HTTP/HTTPS 文件服务器；200/301/400/404/405/416/431；单段 Range；TLS。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6868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95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实验 2 · 连接对象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2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一个连接，就是一个显式状态机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91656"/>
            <a:ext cx="11155680" cy="9144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6868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800" b="0">
                <a:solidFill>
                  <a:srgbClr val="5C6978"/>
                </a:solidFill>
                <a:latin typeface="Microsoft YaHei"/>
                <a:ea typeface="Microsoft YaHei"/>
                <a:cs typeface="Microsoft YaHei"/>
              </a:rPr>
              <a:t>计网研讨课第一次实验总结 · 吴峥 · 2024K80099013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55664"/>
            <a:ext cx="100584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lnSpc>
                <a:spcPct val="104000"/>
              </a:lnSpc>
              <a:spcAft>
                <a:spcPts val="200"/>
              </a:spcAft>
            </a:pPr>
            <a:r>
              <a:rPr sz="800" b="0">
                <a:solidFill>
                  <a:srgbClr val="5C6978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pic>
        <p:nvPicPr>
          <p:cNvPr id="8" name="Picture 7" descr="connection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4570"/>
            <a:ext cx="4846320" cy="1823019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23560" y="1188720"/>
          <a:ext cx="5943600" cy="3520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54480"/>
                <a:gridCol w="4389120"/>
              </a:tblGrid>
              <a:tr h="5867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</a:t>
                      </a:r>
                    </a:p>
                  </a:txBody>
                  <a:tcPr marL="54864" marR="45720" marT="27432" marB="27432" anchor="ctr">
                    <a:solidFill>
                      <a:srgbClr val="2E8B5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作用</a:t>
                      </a:r>
                    </a:p>
                  </a:txBody>
                  <a:tcPr marL="54864" marR="45720" marT="27432" marB="27432" anchor="ctr">
                    <a:solidFill>
                      <a:srgbClr val="2E8B57"/>
                    </a:solidFill>
                  </a:tcPr>
                </a:tc>
              </a:tr>
              <a:tr h="5867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fd、tls、ssl</a:t>
                      </a:r>
                    </a:p>
                  </a:txBody>
                  <a:tcPr marL="54864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保存套接字、是否使用 TLS 以及对应的 OpenSSL 连接对象</a:t>
                      </a:r>
                    </a:p>
                  </a:txBody>
                  <a:tcPr marL="54864" marR="45720" marT="27432" marB="27432" anchor="ctr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state</a:t>
                      </a:r>
                    </a:p>
                  </a:txBody>
                  <a:tcPr marL="54864" marR="45720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记录当前处于握手、读取、发送或关闭阶段；监听对象使用 LISTENER</a:t>
                      </a:r>
                    </a:p>
                  </a:txBody>
                  <a:tcPr marL="54864" marR="45720" marT="27432" marB="27432" anchor="ctr">
                    <a:solidFill>
                      <a:srgbClr val="F7F9FC"/>
                    </a:solidFill>
                  </a:tcPr>
                </a:tc>
              </a:tr>
              <a:tr h="5867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input、used</a:t>
                      </a:r>
                    </a:p>
                  </a:txBody>
                  <a:tcPr marL="54864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保存已收到的请求数据及有效长度</a:t>
                      </a:r>
                    </a:p>
                  </a:txBody>
                  <a:tcPr marL="54864" marR="45720" marT="27432" marB="27432" anchor="ctr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output、output_len、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sent</a:t>
                      </a:r>
                    </a:p>
                  </a:txBody>
                  <a:tcPr marL="54864" marR="45720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保存当前待发送的数据块、块长度和已发送长度</a:t>
                      </a:r>
                    </a:p>
                  </a:txBody>
                  <a:tcPr marL="54864" marR="45720" marT="27432" marB="27432" anchor="ctr">
                    <a:solidFill>
                      <a:srgbClr val="F7F9FC"/>
                    </a:solidFill>
                  </a:tcPr>
                </a:tc>
              </a:tr>
              <a:tr h="5867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file_fd、file_offset、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file_remaining</a:t>
                      </a:r>
                    </a:p>
                  </a:txBody>
                  <a:tcPr marL="54864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保存打开的文件、下一次读取位置及尚未读入缓冲区的字节数</a:t>
                      </a:r>
                    </a:p>
                  </a:txBody>
                  <a:tcPr marL="54864" marR="4572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846320"/>
            <a:ext cx="484632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19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为什么放在一起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120640"/>
            <a:ext cx="4846320" cy="10515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19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状态、缓冲、文件进度都跟着同一个对象走；释放时统一处理，不会漏。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4846320"/>
            <a:ext cx="594360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19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归属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5120640"/>
            <a:ext cx="5943600" cy="10515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19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每个 client 一份 connection；两个端口不共享数据缓冲。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19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监听对象也有 connection（state = LISTENER），accept 后才新建真正的连接。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6868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95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实验 2 · epoll 事件循环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2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等待事件 → 循环处理 → 分派 listener / connection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91656"/>
            <a:ext cx="11155680" cy="9144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6868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800" b="0">
                <a:solidFill>
                  <a:srgbClr val="5C6978"/>
                </a:solidFill>
                <a:latin typeface="Microsoft YaHei"/>
                <a:ea typeface="Microsoft YaHei"/>
                <a:cs typeface="Microsoft YaHei"/>
              </a:rPr>
              <a:t>计网研讨课第一次实验总结 · 吴峥 · 2024K80099013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55664"/>
            <a:ext cx="100584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lnSpc>
                <a:spcPct val="104000"/>
              </a:lnSpc>
              <a:spcAft>
                <a:spcPts val="200"/>
              </a:spcAft>
            </a:pPr>
            <a:r>
              <a:rPr sz="800" b="0">
                <a:solidFill>
                  <a:srgbClr val="5C6978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pic>
        <p:nvPicPr>
          <p:cNvPr id="8" name="Picture 7" descr="02-socket-epoll-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44810"/>
            <a:ext cx="11155680" cy="30882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4462272"/>
            <a:ext cx="111556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19" b="0">
                <a:solidFill>
                  <a:srgbClr val="5C6978"/>
                </a:solidFill>
                <a:latin typeface="Microsoft YaHei"/>
                <a:ea typeface="Microsoft YaHei"/>
                <a:cs typeface="Microsoft YaHei"/>
              </a:rPr>
              <a:t>epoll_wait 阻塞等待，一次最多 64 个就绪事件；处理完一个事件回到循环头，一组完成才回等待。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800600"/>
            <a:ext cx="365760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19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listener 分支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074920"/>
            <a:ext cx="3657600" cy="11430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接受新连接 → 新建 connection 结构体并注册到 epoll → drive。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4800600"/>
            <a:ext cx="365760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19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connection 分支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5074920"/>
            <a:ext cx="3657600" cy="11430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直接 drive；从上次停下的状态继续。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4800600"/>
            <a:ext cx="347472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19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做不下去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5074920"/>
            <a:ext cx="3474720" cy="11430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86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记住进度、改 epoll 关注事件、返回等待。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86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一次最多 64 个事件；每个监听口每轮最多接受 64 个；listen backlog 128。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6868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95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实验 2 · 每连接状态机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2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drive 一次可以连续走多个状态，不是每次都回等待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91656"/>
            <a:ext cx="11155680" cy="9144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6868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800" b="0">
                <a:solidFill>
                  <a:srgbClr val="5C6978"/>
                </a:solidFill>
                <a:latin typeface="Microsoft YaHei"/>
                <a:ea typeface="Microsoft YaHei"/>
                <a:cs typeface="Microsoft YaHei"/>
              </a:rPr>
              <a:t>计网研讨课第一次实验总结 · 吴峥 · 2024K80099013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55664"/>
            <a:ext cx="100584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lnSpc>
                <a:spcPct val="104000"/>
              </a:lnSpc>
              <a:spcAft>
                <a:spcPts val="200"/>
              </a:spcAft>
            </a:pPr>
            <a:r>
              <a:rPr sz="800" b="0">
                <a:solidFill>
                  <a:srgbClr val="5C697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8" name="Picture 7" descr="02-socket-fsm-automat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51877"/>
            <a:ext cx="8686800" cy="45542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89720" y="1143000"/>
            <a:ext cx="251460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95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1417320"/>
            <a:ext cx="2514600" cy="1645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84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HANDSHAKE → READING → WRITING → CLOSING → RELEASE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20" y="3063240"/>
            <a:ext cx="251460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95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等待 / EAGAIN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20" y="3337560"/>
            <a:ext cx="2514600" cy="23774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819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EAGAIN / WANT_* 不是错误：现在做不了。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819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保存现场，改 epoll 关注事件，下次 drive 继续。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819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READING 收齐请求头后可以直接进 WRITING；只有做不下去或完成才返回等待。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806440"/>
            <a:ext cx="1115568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85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socket 允许一个 fd 又读又写：read() 从接收缓冲区头部取已到达字节，write() 追加到发送缓冲区尾部；内核维护各自游标。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9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6868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950" b="1">
                <a:solidFill>
                  <a:srgbClr val="C97A1E"/>
                </a:solidFill>
                <a:latin typeface="Microsoft YaHei"/>
                <a:ea typeface="Microsoft YaHei"/>
                <a:cs typeface="Microsoft YaHei"/>
              </a:rPr>
              <a:t>实验 3 · Hub 与 Switch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2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先读懂框架：侵入式链表和“填空”方法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91656"/>
            <a:ext cx="11155680" cy="9144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6868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800" b="0">
                <a:solidFill>
                  <a:srgbClr val="5C6978"/>
                </a:solidFill>
                <a:latin typeface="Microsoft YaHei"/>
                <a:ea typeface="Microsoft YaHei"/>
                <a:cs typeface="Microsoft YaHei"/>
              </a:rPr>
              <a:t>计网研讨课第一次实验总结 · 吴峥 · 2024K80099013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55664"/>
            <a:ext cx="100584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lnSpc>
                <a:spcPct val="104000"/>
              </a:lnSpc>
              <a:spcAft>
                <a:spcPts val="200"/>
              </a:spcAft>
            </a:pPr>
            <a:r>
              <a:rPr sz="800" b="0">
                <a:solidFill>
                  <a:srgbClr val="5C697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8" name="Picture 7" descr="list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08145"/>
            <a:ext cx="6766560" cy="343586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79" y="1143000"/>
            <a:ext cx="416052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50" b="1">
                <a:solidFill>
                  <a:srgbClr val="C97A1E"/>
                </a:solidFill>
                <a:latin typeface="Microsoft YaHei"/>
                <a:ea typeface="Microsoft YaHei"/>
                <a:cs typeface="Microsoft YaHei"/>
              </a:rPr>
              <a:t>侵入式链表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417320"/>
            <a:ext cx="4160520" cy="1645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19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list_head 嵌在对象里，不需要额外节点；list_entry 用成员地址反推整个对象。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3200400"/>
            <a:ext cx="416052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50" b="1">
                <a:solidFill>
                  <a:srgbClr val="C97A1E"/>
                </a:solidFill>
                <a:latin typeface="Microsoft YaHei"/>
                <a:ea typeface="Microsoft YaHei"/>
                <a:cs typeface="Microsoft YaHei"/>
              </a:rPr>
              <a:t>读框架的方法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3474720"/>
            <a:ext cx="4160520" cy="1234439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19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先找 TODO 和调用链，不必通读全部代码；go to definition + 全局搜索。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92040"/>
            <a:ext cx="1115568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80" b="1">
                <a:solidFill>
                  <a:srgbClr val="C97A1E"/>
                </a:solidFill>
                <a:latin typeface="Microsoft YaHei"/>
                <a:ea typeface="Microsoft YaHei"/>
                <a:cs typeface="Microsoft YaHei"/>
              </a:rPr>
              <a:t>难点 / 注意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166359"/>
            <a:ext cx="11155680" cy="1005839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4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实验 3 的复杂度主要来自框架，而不是转发逻辑；结构体和宏已经预定义好，但刚上手不容易理解。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4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代码细节本身比较容易，主要是有锁编程需要注意。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9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6868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950" b="1">
                <a:solidFill>
                  <a:srgbClr val="C97A1E"/>
                </a:solidFill>
                <a:latin typeface="Microsoft YaHei"/>
                <a:ea typeface="Microsoft YaHei"/>
                <a:cs typeface="Microsoft YaHei"/>
              </a:rPr>
              <a:t>实验 3 · 交换机怎么转发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2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Hub 广播；Switch 学 MAC、查表、单播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91656"/>
            <a:ext cx="11155680" cy="9144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6868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800" b="0">
                <a:solidFill>
                  <a:srgbClr val="5C6978"/>
                </a:solidFill>
                <a:latin typeface="Microsoft YaHei"/>
                <a:ea typeface="Microsoft YaHei"/>
                <a:cs typeface="Microsoft YaHei"/>
              </a:rPr>
              <a:t>计网研讨课第一次实验总结 · 吴峥 · 2024K80099013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55664"/>
            <a:ext cx="100584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lnSpc>
                <a:spcPct val="104000"/>
              </a:lnSpc>
              <a:spcAft>
                <a:spcPts val="200"/>
              </a:spcAft>
            </a:pPr>
            <a:r>
              <a:rPr sz="800" b="0">
                <a:solidFill>
                  <a:srgbClr val="5C697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530352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100" b="1">
                <a:solidFill>
                  <a:srgbClr val="C97A1E"/>
                </a:solidFill>
                <a:latin typeface="Microsoft YaHei"/>
                <a:ea typeface="Microsoft YaHei"/>
                <a:cs typeface="Microsoft YaHei"/>
              </a:rPr>
              <a:t>Hub（物理层）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5303520" cy="1645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5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没有 MAC 地址；收到帧就向其他所有端口复制。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5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集线器运行在物理层，因此相对上层交换机的传输是透明的。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530352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100" b="1">
                <a:solidFill>
                  <a:srgbClr val="C97A1E"/>
                </a:solidFill>
                <a:latin typeface="Microsoft YaHei"/>
                <a:ea typeface="Microsoft YaHei"/>
                <a:cs typeface="Microsoft YaHei"/>
              </a:rPr>
              <a:t>Switch（数据链路层）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20439"/>
            <a:ext cx="5303520" cy="23774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每个接口有一个唯一的 MAC 地址（区别于一般的每个交换机共享一个）；整机一张全局 MAC 地址表。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收到帧：查目的 MAC，命中则只从对应端口发出；未命中则向其他端口泛洪；同时学习源 MAC -&gt; 入接口。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表项动态插入，30 s 老化；拓扑变化时重新学习。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1188720"/>
            <a:ext cx="548640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80" b="1">
                <a:solidFill>
                  <a:srgbClr val="C97A1E"/>
                </a:solidFill>
                <a:latin typeface="Microsoft YaHei"/>
                <a:ea typeface="Microsoft YaHei"/>
                <a:cs typeface="Microsoft YaHei"/>
              </a:rPr>
              <a:t>一个容易混淆的点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463040"/>
            <a:ext cx="5486400" cy="19202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19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iface_info_t 里每个接口各有一份 MAC；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19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mac_port_map 是整机一张学习表，不是“交换机 MAC”。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19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每个表项：源 MAC + iface* + 最近访问时间。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3611880"/>
            <a:ext cx="548640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80" b="1">
                <a:solidFill>
                  <a:srgbClr val="C97A1E"/>
                </a:solidFill>
                <a:latin typeface="Microsoft YaHei"/>
                <a:ea typeface="Microsoft YaHei"/>
                <a:cs typeface="Microsoft YaHei"/>
              </a:rPr>
              <a:t>为什么需要 STP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886200"/>
            <a:ext cx="5486400" cy="20116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19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交换机通过 MAC 地址确定向哪个端口转发；但遇到环路时，广播帧会不断复制。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19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没有 STP，交换机也无法避免泛洪成环。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19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集线器只适合放在网络最末端。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9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6868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950" b="1">
                <a:solidFill>
                  <a:srgbClr val="C97A1E"/>
                </a:solidFill>
                <a:latin typeface="Microsoft YaHei"/>
                <a:ea typeface="Microsoft YaHei"/>
                <a:cs typeface="Microsoft YaHei"/>
              </a:rPr>
              <a:t>实验 3 · 环路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2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一次 ping 如何在 6 秒内变成 20 万个帧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91656"/>
            <a:ext cx="11155680" cy="9144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6868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800" b="0">
                <a:solidFill>
                  <a:srgbClr val="5C6978"/>
                </a:solidFill>
                <a:latin typeface="Microsoft YaHei"/>
                <a:ea typeface="Microsoft YaHei"/>
                <a:cs typeface="Microsoft YaHei"/>
              </a:rPr>
              <a:t>计网研讨课第一次实验总结 · 吴峥 · 2024K80099013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55664"/>
            <a:ext cx="100584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lnSpc>
                <a:spcPct val="104000"/>
              </a:lnSpc>
              <a:spcAft>
                <a:spcPts val="200"/>
              </a:spcAft>
            </a:pPr>
            <a:r>
              <a:rPr sz="800" b="0">
                <a:solidFill>
                  <a:srgbClr val="5C6978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pic>
        <p:nvPicPr>
          <p:cNvPr id="8" name="Picture 7" descr="topology_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10887"/>
            <a:ext cx="3246120" cy="196734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227832"/>
            <a:ext cx="32461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19" b="0">
                <a:solidFill>
                  <a:srgbClr val="5C6978"/>
                </a:solidFill>
                <a:latin typeface="Microsoft YaHei"/>
                <a:ea typeface="Microsoft YaHei"/>
                <a:cs typeface="Microsoft YaHei"/>
              </a:rPr>
              <a:t>环形拓扑：三个 Hub 首尾相连。</a:t>
            </a:r>
          </a:p>
        </p:txBody>
      </p:sp>
      <p:pic>
        <p:nvPicPr>
          <p:cNvPr id="10" name="Picture 9" descr="03-ring-broadcast-st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9302" y="1188720"/>
            <a:ext cx="4180114" cy="2926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77639" y="4142232"/>
            <a:ext cx="46634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19" b="0">
                <a:solidFill>
                  <a:srgbClr val="5C6978"/>
                </a:solidFill>
                <a:latin typeface="Microsoft YaHei"/>
                <a:ea typeface="Microsoft YaHei"/>
                <a:cs typeface="Microsoft YaHei"/>
              </a:rPr>
              <a:t>包速率约 33 kpps、吞吐贴着 20 Mbit/s，直到抓包结束都没有衰减。</a:t>
            </a:r>
          </a:p>
        </p:txBody>
      </p:sp>
      <p:pic>
        <p:nvPicPr>
          <p:cNvPr id="12" name="Picture 11" descr="03-ring-frame-composi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0" y="1203007"/>
            <a:ext cx="2743200" cy="18002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23960" y="3044951"/>
            <a:ext cx="27432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19" b="0">
                <a:solidFill>
                  <a:srgbClr val="5C6978"/>
                </a:solidFill>
                <a:latin typeface="Microsoft YaHei"/>
                <a:ea typeface="Microsoft YaHei"/>
                <a:cs typeface="Microsoft YaHei"/>
              </a:rPr>
              <a:t>ARP 41.2%；ICMP Echo Reply 58.5%；Echo Request 只有 0.2%。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572000"/>
            <a:ext cx="804672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80" b="1">
                <a:solidFill>
                  <a:srgbClr val="C97A1E"/>
                </a:solidFill>
                <a:latin typeface="Microsoft YaHei"/>
                <a:ea typeface="Microsoft YaHei"/>
                <a:cs typeface="Microsoft YaHei"/>
              </a:rPr>
              <a:t>为什么停不下来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846320"/>
            <a:ext cx="8046720" cy="1371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一次 ping 在 6 秒内被放大成 20 万个帧，放大 423.4×；唯一签名的 Echo Request 只有 1 个，却复制出 483 个副本。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Hub 不学 MAC，广播帧在环里来回复制；帧没有 TTL，不会自己消失。STP 从逻辑上断开环路。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3657600"/>
            <a:ext cx="274320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50" b="1">
                <a:solidFill>
                  <a:srgbClr val="C97A1E"/>
                </a:solidFill>
                <a:latin typeface="Microsoft YaHei"/>
                <a:ea typeface="Microsoft YaHei"/>
                <a:cs typeface="Microsoft YaHei"/>
              </a:rPr>
              <a:t>数字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3931920"/>
            <a:ext cx="2743200" cy="21031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423.4× 放大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33 kpps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20 Mbit/s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41.2% ARP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58.5% ICMP Echo Reply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9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6868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950" b="1">
                <a:solidFill>
                  <a:srgbClr val="C97A1E"/>
                </a:solidFill>
                <a:latin typeface="Microsoft YaHei"/>
                <a:ea typeface="Microsoft YaHei"/>
                <a:cs typeface="Microsoft YaHei"/>
              </a:rPr>
              <a:t>实验 3 · Hub vs Switch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2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广播的代价：多条流共享同一条下行链路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91656"/>
            <a:ext cx="11155680" cy="9144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6868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800" b="0">
                <a:solidFill>
                  <a:srgbClr val="5C6978"/>
                </a:solidFill>
                <a:latin typeface="Microsoft YaHei"/>
                <a:ea typeface="Microsoft YaHei"/>
                <a:cs typeface="Microsoft YaHei"/>
              </a:rPr>
              <a:t>计网研讨课第一次实验总结 · 吴峥 · 2024K80099013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55664"/>
            <a:ext cx="100584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lnSpc>
                <a:spcPct val="104000"/>
              </a:lnSpc>
              <a:spcAft>
                <a:spcPts val="200"/>
              </a:spcAft>
            </a:pPr>
            <a:r>
              <a:rPr sz="800" b="0">
                <a:solidFill>
                  <a:srgbClr val="5C6978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pic>
        <p:nvPicPr>
          <p:cNvPr id="8" name="Picture 7" descr="topology_three_n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1188720"/>
            <a:ext cx="4526280" cy="2743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959352"/>
            <a:ext cx="45720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19" b="0">
                <a:solidFill>
                  <a:srgbClr val="5C6978"/>
                </a:solidFill>
                <a:latin typeface="Microsoft YaHei"/>
                <a:ea typeface="Microsoft YaHei"/>
                <a:cs typeface="Microsoft YaHei"/>
              </a:rPr>
              <a:t>简单拓扑：两台主机经 Hub / Switch 通信。</a:t>
            </a:r>
          </a:p>
        </p:txBody>
      </p:sp>
      <p:pic>
        <p:nvPicPr>
          <p:cNvPr id="10" name="Picture 9" descr="03-hub-vs-switch-through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862050"/>
            <a:ext cx="6400799" cy="267669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57800" y="5239512"/>
            <a:ext cx="64008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19" b="0">
                <a:solidFill>
                  <a:srgbClr val="5C6978"/>
                </a:solidFill>
                <a:latin typeface="Microsoft YaHei"/>
                <a:ea typeface="Microsoft YaHei"/>
                <a:cs typeface="Microsoft YaHei"/>
              </a:rPr>
              <a:t>场景 A：Hub 两条流 5.85 / 2.99 Mbit/s；Switch 各自接近 9.4 Mbit/s。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572000"/>
            <a:ext cx="1115568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80" b="1">
                <a:solidFill>
                  <a:srgbClr val="C97A1E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46320"/>
            <a:ext cx="11155680" cy="1371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19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交换机能够做到点对点通信，而集线器因为运行在物理层只能广播；Scenario A 合计吞吐约 2.12×。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19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广播导致的链路吞吐瓶颈比较直观；两个实验也说明集线器只适合运行在整个网络最末端。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19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环形拓扑下如果没有合适手段规避，会发生的泛洪；这直接引出了实验 4。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F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6868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950" b="1">
                <a:solidFill>
                  <a:srgbClr val="6F5AA8"/>
                </a:solidFill>
                <a:latin typeface="Microsoft YaHei"/>
                <a:ea typeface="Microsoft YaHei"/>
                <a:cs typeface="Microsoft YaHei"/>
              </a:rPr>
              <a:t>实验 4 · STP 生成树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2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每个端口保存自己的最优结果，主机仲裁根端口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91656"/>
            <a:ext cx="11155680" cy="9144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6868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800" b="0">
                <a:solidFill>
                  <a:srgbClr val="5C6978"/>
                </a:solidFill>
                <a:latin typeface="Microsoft YaHei"/>
                <a:ea typeface="Microsoft YaHei"/>
                <a:cs typeface="Microsoft YaHei"/>
              </a:rPr>
              <a:t>计网研讨课第一次实验总结 · 吴峥 · 2024K80099013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55664"/>
            <a:ext cx="100584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lnSpc>
                <a:spcPct val="104000"/>
              </a:lnSpc>
              <a:spcAft>
                <a:spcPts val="200"/>
              </a:spcAft>
            </a:pPr>
            <a:r>
              <a:rPr sz="800" b="0">
                <a:solidFill>
                  <a:srgbClr val="5C6978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pic>
        <p:nvPicPr>
          <p:cNvPr id="8" name="Picture 7" descr="04-seven-node-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4937760" cy="3291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513832"/>
            <a:ext cx="49377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19" b="0">
                <a:solidFill>
                  <a:srgbClr val="5C6978"/>
                </a:solidFill>
                <a:latin typeface="Microsoft YaHei"/>
                <a:ea typeface="Microsoft YaHei"/>
                <a:cs typeface="Microsoft YaHei"/>
              </a:rPr>
              <a:t>七节点拓扑：最终只保留一棵无环生成树。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1188720"/>
            <a:ext cx="585216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50" b="1">
                <a:solidFill>
                  <a:srgbClr val="6F5AA8"/>
                </a:solidFill>
                <a:latin typeface="Microsoft YaHei"/>
                <a:ea typeface="Microsoft YaHei"/>
                <a:cs typeface="Microsoft YaHei"/>
              </a:rPr>
              <a:t>分布式竞选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1463040"/>
            <a:ext cx="5852160" cy="1554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89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每台交换机先认为自己是根；交换 BPDU 后逐步收敛。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89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交换机的每个端口储存各自获得的最优结果；如果收到的包比全局存储的更优，由主机仲裁重选根端口。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3154680"/>
            <a:ext cx="585216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50" b="1">
                <a:solidFill>
                  <a:srgbClr val="6F5AA8"/>
                </a:solidFill>
                <a:latin typeface="Microsoft YaHei"/>
                <a:ea typeface="Microsoft YaHei"/>
                <a:cs typeface="Microsoft YaHei"/>
              </a:rPr>
              <a:t>比较顺序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3429000"/>
            <a:ext cx="5852160" cy="1371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89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根桥 ID -&gt; 到根开销 -&gt; 指定桥 ID -&gt; 指定端口 ID。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89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最后两项保证任意两个向量都能分出唯一胜负。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4892040"/>
            <a:ext cx="585216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50" b="1">
                <a:solidFill>
                  <a:srgbClr val="6F5AA8"/>
                </a:solidFill>
                <a:latin typeface="Microsoft YaHei"/>
                <a:ea typeface="Microsoft YaHei"/>
                <a:cs typeface="Microsoft YaHei"/>
              </a:rPr>
              <a:t>一个细节 / 结果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5166359"/>
            <a:ext cx="5852160" cy="10515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869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路径开销只加一次：在交换机层加，避免两个端口对同一段链路重复加代价。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869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9 条链路 -&gt; 6 条树边，3 条阻塞。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B94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6868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950" b="1">
                <a:solidFill>
                  <a:srgbClr val="B94A48"/>
                </a:solidFill>
                <a:latin typeface="Microsoft YaHei"/>
                <a:ea typeface="Microsoft YaHei"/>
                <a:cs typeface="Microsoft YaHei"/>
              </a:rPr>
              <a:t>实验 5 · Bufferbloat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2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缓冲越大，RTT 越高，但吞吐并没有提高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91656"/>
            <a:ext cx="11155680" cy="9144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6868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800" b="0">
                <a:solidFill>
                  <a:srgbClr val="5C6978"/>
                </a:solidFill>
                <a:latin typeface="Microsoft YaHei"/>
                <a:ea typeface="Microsoft YaHei"/>
                <a:cs typeface="Microsoft YaHei"/>
              </a:rPr>
              <a:t>计网研讨课第一次实验总结 · 吴峥 · 2024K80099013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55664"/>
            <a:ext cx="100584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lnSpc>
                <a:spcPct val="104000"/>
              </a:lnSpc>
              <a:spcAft>
                <a:spcPts val="200"/>
              </a:spcAft>
            </a:pPr>
            <a:r>
              <a:rPr sz="800" b="0">
                <a:solidFill>
                  <a:srgbClr val="5C6978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pic>
        <p:nvPicPr>
          <p:cNvPr id="8" name="Picture 7" descr="05-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685" y="1188720"/>
            <a:ext cx="3772948" cy="3200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4416552"/>
            <a:ext cx="38404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19" b="0">
                <a:solidFill>
                  <a:srgbClr val="5C6978"/>
                </a:solidFill>
                <a:latin typeface="Microsoft YaHei"/>
                <a:ea typeface="Microsoft YaHei"/>
                <a:cs typeface="Microsoft YaHei"/>
              </a:rPr>
              <a:t>10 Mbit 瓶颈 + maxq 缓冲；下半部分是 AQM 对比拓扑。</a:t>
            </a:r>
          </a:p>
        </p:txBody>
      </p:sp>
      <p:pic>
        <p:nvPicPr>
          <p:cNvPr id="10" name="Picture 9" descr="05-bufferbloat-sw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345" y="1188720"/>
            <a:ext cx="6964188" cy="4389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5605272"/>
            <a:ext cx="70408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19" b="0">
                <a:solidFill>
                  <a:srgbClr val="5C6978"/>
                </a:solidFill>
                <a:latin typeface="Microsoft YaHei"/>
                <a:ea typeface="Microsoft YaHei"/>
                <a:cs typeface="Microsoft YaHei"/>
              </a:rPr>
              <a:t>maxq = 10 / 50 / 200 / 1000：缓冲越大，cwnd / 队列 / RTT 锯齿越大、周期越长。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572000"/>
            <a:ext cx="384048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50" b="1">
                <a:solidFill>
                  <a:srgbClr val="B94A48"/>
                </a:solidFill>
                <a:latin typeface="Microsoft YaHei"/>
                <a:ea typeface="Microsoft YaHei"/>
                <a:cs typeface="Microsoft YaHei"/>
              </a:rPr>
              <a:t>数字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46320"/>
            <a:ext cx="3840480" cy="1371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88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maxq 1000 -&gt; 50：RTT 中位 652 -&gt; 57 ms，吞吐仍是 9.5 Mbit/s。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88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再压到 10 包（小于 BDP）才损失约 15% 吞吐。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532120"/>
            <a:ext cx="704088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19" b="1">
                <a:solidFill>
                  <a:srgbClr val="B94A48"/>
                </a:solidFill>
                <a:latin typeface="Microsoft YaHei"/>
                <a:ea typeface="Microsoft YaHei"/>
                <a:cs typeface="Microsoft YaHei"/>
              </a:rPr>
              <a:t>解释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5806440"/>
            <a:ext cx="704088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86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TCP AIMD：拥塞窗口/队列/RTT 呈线性上升、断崖下降；这是上层协议对下层设备性能的跨层耦合。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B94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6868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950" b="1">
                <a:solidFill>
                  <a:srgbClr val="B94A48"/>
                </a:solidFill>
                <a:latin typeface="Microsoft YaHei"/>
                <a:ea typeface="Microsoft YaHei"/>
                <a:cs typeface="Microsoft YaHei"/>
              </a:rPr>
              <a:t>实验 5 · AQM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2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延迟可以独立于吞吐来优化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91656"/>
            <a:ext cx="11155680" cy="9144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6868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800" b="0">
                <a:solidFill>
                  <a:srgbClr val="5C6978"/>
                </a:solidFill>
                <a:latin typeface="Microsoft YaHei"/>
                <a:ea typeface="Microsoft YaHei"/>
                <a:cs typeface="Microsoft YaHei"/>
              </a:rPr>
              <a:t>计网研讨课第一次实验总结 · 吴峥 · 2024K80099013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55664"/>
            <a:ext cx="100584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lnSpc>
                <a:spcPct val="104000"/>
              </a:lnSpc>
              <a:spcAft>
                <a:spcPts val="200"/>
              </a:spcAft>
            </a:pPr>
            <a:r>
              <a:rPr sz="800" b="0">
                <a:solidFill>
                  <a:srgbClr val="5C6978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pic>
        <p:nvPicPr>
          <p:cNvPr id="8" name="Picture 7" descr="05-aqm-r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078" y="1188720"/>
            <a:ext cx="5354082" cy="33832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4599432"/>
            <a:ext cx="54864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19" b="0">
                <a:solidFill>
                  <a:srgbClr val="5C6978"/>
                </a:solidFill>
                <a:latin typeface="Microsoft YaHei"/>
                <a:ea typeface="Microsoft YaHei"/>
                <a:cs typeface="Microsoft YaHei"/>
              </a:rPr>
              <a:t>RTT：taildrop 在低速相位冲到 5–8 s；RED 约 0.8 s；CoDel 10–50 ms。</a:t>
            </a:r>
          </a:p>
        </p:txBody>
      </p:sp>
      <p:pic>
        <p:nvPicPr>
          <p:cNvPr id="10" name="Picture 9" descr="05-aqm-through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390" y="1188720"/>
            <a:ext cx="4276578" cy="3383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72200" y="4599432"/>
            <a:ext cx="53949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19" b="0">
                <a:solidFill>
                  <a:srgbClr val="5C6978"/>
                </a:solidFill>
                <a:latin typeface="Microsoft YaHei"/>
                <a:ea typeface="Microsoft YaHei"/>
                <a:cs typeface="Microsoft YaHei"/>
              </a:rPr>
              <a:t>吞吐：虚线是服务端线上速率；三种规则几乎完全重合。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00600"/>
            <a:ext cx="1115568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80" b="1">
                <a:solidFill>
                  <a:srgbClr val="B94A48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074920"/>
            <a:ext cx="11155680" cy="11430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3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taildrop p95 6.1 s，RED 0.8 s，CoDel 59 ms；三者总交付量都约 298 MB。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3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CoDel 用“排队停留时间”而不是“队列长度”做控制：以包在队列中的停留时间为控制量，比单纯把队列排满效率高。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B94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6868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950" b="1">
                <a:solidFill>
                  <a:srgbClr val="B94A48"/>
                </a:solidFill>
                <a:latin typeface="Microsoft YaHei"/>
                <a:ea typeface="Microsoft YaHei"/>
                <a:cs typeface="Microsoft YaHei"/>
              </a:rPr>
              <a:t>实验 5 · 一个意外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2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TSO/GSO 会把 mininet 队列里的包“放大”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91656"/>
            <a:ext cx="11155680" cy="9144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6868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800" b="0">
                <a:solidFill>
                  <a:srgbClr val="5C6978"/>
                </a:solidFill>
                <a:latin typeface="Microsoft YaHei"/>
                <a:ea typeface="Microsoft YaHei"/>
                <a:cs typeface="Microsoft YaHei"/>
              </a:rPr>
              <a:t>计网研讨课第一次实验总结 · 吴峥 · 2024K80099013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55664"/>
            <a:ext cx="100584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lnSpc>
                <a:spcPct val="104000"/>
              </a:lnSpc>
              <a:spcAft>
                <a:spcPts val="200"/>
              </a:spcAft>
            </a:pPr>
            <a:r>
              <a:rPr sz="800" b="0">
                <a:solidFill>
                  <a:srgbClr val="5C6978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pic>
        <p:nvPicPr>
          <p:cNvPr id="8" name="Picture 7" descr="05-tso-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17902"/>
            <a:ext cx="5760720" cy="378211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056632"/>
            <a:ext cx="57607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19" b="0">
                <a:solidFill>
                  <a:srgbClr val="5C6978"/>
                </a:solidFill>
                <a:latin typeface="Microsoft YaHei"/>
                <a:ea typeface="Microsoft YaHei"/>
                <a:cs typeface="Microsoft YaHei"/>
              </a:rPr>
              <a:t>taildrop：TSO/GSO 开 vs 关，队列字节和 RTT 相差一个数量级。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188720"/>
            <a:ext cx="502920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80" b="1">
                <a:solidFill>
                  <a:srgbClr val="B94A48"/>
                </a:solidFill>
                <a:latin typeface="Microsoft YaHei"/>
                <a:ea typeface="Microsoft YaHei"/>
                <a:cs typeface="Microsoft YaHei"/>
              </a:rPr>
              <a:t>为什么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463040"/>
            <a:ext cx="5029200" cy="1554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3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开启 TSO/GSO 时，网络包由物理网卡切片；在 mininet 模拟中，相当于队列里每个包都发生膨胀，因而造成更严重的 bufferbloat。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200400"/>
            <a:ext cx="502920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80" b="1">
                <a:solidFill>
                  <a:srgbClr val="B94A48"/>
                </a:solidFill>
                <a:latin typeface="Microsoft YaHei"/>
                <a:ea typeface="Microsoft YaHei"/>
                <a:cs typeface="Microsoft YaHei"/>
              </a:rPr>
              <a:t>为什么 RED / CoDel 不受太大影响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474720"/>
            <a:ext cx="5029200" cy="1737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3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RED 的阈值 avpkt 是字节量；CoDel 的控制量是排队时间。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3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它们不按“包个数”做判断。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303520"/>
            <a:ext cx="11155680" cy="8229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这也是为什么同一个 bufferbloat 实验，在开启/关闭 offload 时曲线会差一个数量级。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6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6868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950" b="1">
                <a:solidFill>
                  <a:srgbClr val="2F6FB0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2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五次实验放在一张表里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91656"/>
            <a:ext cx="11155680" cy="9144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6868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800" b="0">
                <a:solidFill>
                  <a:srgbClr val="5C6978"/>
                </a:solidFill>
                <a:latin typeface="Microsoft YaHei"/>
                <a:ea typeface="Microsoft YaHei"/>
                <a:cs typeface="Microsoft YaHei"/>
              </a:rPr>
              <a:t>计网研讨课第一次实验总结 · 吴峥 · 2024K80099013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55664"/>
            <a:ext cx="100584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lnSpc>
                <a:spcPct val="104000"/>
              </a:lnSpc>
              <a:spcAft>
                <a:spcPts val="200"/>
              </a:spcAft>
            </a:pPr>
            <a:r>
              <a:rPr sz="800" b="0">
                <a:solidFill>
                  <a:srgbClr val="5C6978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88720"/>
          <a:ext cx="11155680" cy="30175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02920"/>
                <a:gridCol w="2743200"/>
                <a:gridCol w="7909560"/>
              </a:tblGrid>
              <a:tr h="50292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#</a:t>
                      </a:r>
                    </a:p>
                  </a:txBody>
                  <a:tcPr marL="54864" marR="45720" marT="27432" marB="27432" anchor="ctr">
                    <a:solidFill>
                      <a:srgbClr val="2F6FB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</a:t>
                      </a:r>
                    </a:p>
                  </a:txBody>
                  <a:tcPr marL="54864" marR="45720" marT="27432" marB="27432" anchor="ctr">
                    <a:solidFill>
                      <a:srgbClr val="2F6FB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实验目的</a:t>
                      </a:r>
                    </a:p>
                  </a:txBody>
                  <a:tcPr marL="54864" marR="45720" marT="27432" marB="27432" anchor="ctr">
                    <a:solidFill>
                      <a:srgbClr val="2F6FB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54864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互联网体系结构初识</a:t>
                      </a:r>
                    </a:p>
                  </a:txBody>
                  <a:tcPr marL="54864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理解网络分层结构 + 了解衡量网络性能的指标</a:t>
                      </a:r>
                    </a:p>
                  </a:txBody>
                  <a:tcPr marL="54864" marR="4572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54864" marR="45720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Socket 编程</a:t>
                      </a:r>
                    </a:p>
                  </a:txBody>
                  <a:tcPr marL="54864" marR="45720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理解应用层如何处理 HTTP/HTTPS 数据 + 优化端口复用效率</a:t>
                      </a:r>
                    </a:p>
                  </a:txBody>
                  <a:tcPr marL="54864" marR="45720" marT="27432" marB="27432" anchor="ctr">
                    <a:solidFill>
                      <a:srgbClr val="F7F9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54864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Hub 与 Switch</a:t>
                      </a:r>
                    </a:p>
                  </a:txBody>
                  <a:tcPr marL="54864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理解物理层和数据链路层设备和功能</a:t>
                      </a:r>
                    </a:p>
                  </a:txBody>
                  <a:tcPr marL="54864" marR="4572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54864" marR="45720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STP 生成树</a:t>
                      </a:r>
                    </a:p>
                  </a:txBody>
                  <a:tcPr marL="54864" marR="45720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理解数据链路层设备功能</a:t>
                      </a:r>
                    </a:p>
                  </a:txBody>
                  <a:tcPr marL="54864" marR="45720" marT="27432" marB="27432" anchor="ctr">
                    <a:solidFill>
                      <a:srgbClr val="F7F9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54864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Bufferbloat</a:t>
                      </a:r>
                    </a:p>
                  </a:txBody>
                  <a:tcPr marL="54864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理解上层协议对下层设备的影响，优化数据链路层设备性能</a:t>
                      </a:r>
                    </a:p>
                  </a:txBody>
                  <a:tcPr marL="54864" marR="4572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526280"/>
            <a:ext cx="548640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80" b="1">
                <a:solidFill>
                  <a:srgbClr val="C97A1E"/>
                </a:solidFill>
                <a:latin typeface="Microsoft YaHei"/>
                <a:ea typeface="Microsoft YaHei"/>
                <a:cs typeface="Microsoft YaHei"/>
              </a:rPr>
              <a:t>3 → 4 →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800600"/>
            <a:ext cx="5486400" cy="12801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6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STP 解决交换机的环路问题；AQM 解决拥塞协议导致的大缓存下交换机高队列延迟问题。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4526280"/>
            <a:ext cx="548640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80" b="1">
                <a:solidFill>
                  <a:srgbClr val="2F6FB0"/>
                </a:solidFill>
                <a:latin typeface="Microsoft YaHei"/>
                <a:ea typeface="Microsoft YaHei"/>
                <a:cs typeface="Microsoft YaHei"/>
              </a:rPr>
              <a:t>两个收获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4800600"/>
            <a:ext cx="5486400" cy="12801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3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始终在明确的某个网络层级上学习，分别加深对网络结构和性能的理解。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93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分层结构对抽象有优势，但分层不能解耦性能问题。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1188720"/>
            <a:ext cx="109728" cy="155448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987552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00" b="1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rPr>
              <a:t>最后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42416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结构上看清层级，性能上看到跨层耦合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788920"/>
            <a:ext cx="10424160" cy="10972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每个实验都落在明确的网络层级上；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但 TCP 的 AIMD、队列和缓存又会把不同层绑在一起。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715000"/>
            <a:ext cx="1042416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5833872"/>
            <a:ext cx="393192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lnSpc>
                <a:spcPct val="104000"/>
              </a:lnSpc>
              <a:spcAft>
                <a:spcPts val="200"/>
              </a:spcAft>
            </a:pPr>
            <a:r>
              <a:rPr sz="9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吴峥 · 2024K80099013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