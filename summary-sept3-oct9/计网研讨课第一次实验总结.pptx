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Wireshark 里先看协议列，再逐层展开 Ethernet / IP / TCP / TLS。ARP 没有 IP 层之上的封装。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FIN/ACK 合并是一个可以提的细节：服务器确认客户端 FIN 时，把自己的 FIN 也带上了。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Ping 最接近传播下界；DNS 受缓存影响离散大；TCP 在近处衡量带宽；Total 叠加 DNS、建连、TLS、服务器处理和下载。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socket 提供类文件系统抽象；epoll 与 pthread 的差异主要在状态和缓冲要自己维护。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事件循环与连接状态机分开看：这里讲的是“什么时候处理哪个连接”。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051560"/>
            <a:ext cx="109728" cy="201168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24128"/>
            <a:ext cx="96926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计网研讨课 · 第一次实验总结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332720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从网络结构到网络性能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78608"/>
            <a:ext cx="103327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7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Wireshark · Socket · Switch · STP · Bufferbloat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57800"/>
            <a:ext cx="53035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吴峥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5257800"/>
            <a:ext cx="40233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2026.09.03 — 2026.10.09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6080760"/>
            <a:ext cx="1865376" cy="54864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6199632"/>
            <a:ext cx="18653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01 体系结构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08376" y="6080760"/>
            <a:ext cx="1865376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08376" y="6199632"/>
            <a:ext cx="18653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02 Socket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48072" y="6080760"/>
            <a:ext cx="1865376" cy="54864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8072" y="6199632"/>
            <a:ext cx="18653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03 Switch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6080760"/>
            <a:ext cx="1865376" cy="54864"/>
          </a:xfrm>
          <a:prstGeom prst="rect">
            <a:avLst/>
          </a:prstGeom>
          <a:solidFill>
            <a:srgbClr val="6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7768" y="6199632"/>
            <a:ext cx="18653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04 STP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27463" y="6080760"/>
            <a:ext cx="1865376" cy="54864"/>
          </a:xfrm>
          <a:prstGeom prst="rect">
            <a:avLst/>
          </a:prstGeom>
          <a:solidFill>
            <a:srgbClr val="B94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7463" y="6199632"/>
            <a:ext cx="18653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05 Bufferbloat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五次实验，其实只围绕两个问题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9108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EBF3FB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527048"/>
            <a:ext cx="498348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理解网络的结构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1892808"/>
            <a:ext cx="4983480" cy="1051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分层、封装、协议栈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物理层 / 数据链路层 / 应用层设备与接口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 w="12700">
            <a:solidFill>
              <a:srgbClr val="B94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527048"/>
            <a:ext cx="498348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衡量与优化网络的性能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1892808"/>
            <a:ext cx="4983480" cy="1051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时延、吞吐、丢包、排队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Bufferbloat 与 AQM：延迟能否独立于吞吐优化？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337560"/>
            <a:ext cx="2048256" cy="2240280"/>
          </a:xfrm>
          <a:prstGeom prst="roundRect">
            <a:avLst>
              <a:gd name="adj" fmla="val 8000"/>
            </a:avLst>
          </a:prstGeom>
          <a:solidFill>
            <a:srgbClr val="EBF3FB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3474720"/>
            <a:ext cx="1783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9/3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822191"/>
            <a:ext cx="178308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互联网体系结构初识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709160"/>
            <a:ext cx="178308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869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Wireshark + 2 万站点时延测量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07208" y="3337560"/>
            <a:ext cx="2048256" cy="2240280"/>
          </a:xfrm>
          <a:prstGeom prst="roundRect">
            <a:avLst>
              <a:gd name="adj" fmla="val 8000"/>
            </a:avLst>
          </a:prstGeom>
          <a:solidFill>
            <a:srgbClr val="EBF7F1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3474720"/>
            <a:ext cx="1783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9/10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5224" y="3822191"/>
            <a:ext cx="178308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Socket 应用编程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5224" y="4709160"/>
            <a:ext cx="178308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869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HTTP/HTTPS 服务器 + epoll 端口复用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0056" y="3337560"/>
            <a:ext cx="2048256" cy="2240280"/>
          </a:xfrm>
          <a:prstGeom prst="roundRect">
            <a:avLst>
              <a:gd name="adj" fmla="val 8000"/>
            </a:avLst>
          </a:prstGeom>
          <a:solidFill>
            <a:srgbClr val="FCF4E8"/>
          </a:solidFill>
          <a:ln w="12700">
            <a:solidFill>
              <a:srgbClr val="C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48072" y="3474720"/>
            <a:ext cx="1783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C97A1E"/>
                </a:solidFill>
                <a:latin typeface="Microsoft YaHei"/>
                <a:ea typeface="Microsoft YaHei"/>
                <a:cs typeface="Microsoft YaHei"/>
              </a:rPr>
              <a:t>9/17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8072" y="3822191"/>
            <a:ext cx="178308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Hub 与 Switch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72" y="4709160"/>
            <a:ext cx="178308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869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广播 vs 自学习转发；环路广播风暴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32904" y="3337560"/>
            <a:ext cx="2048256" cy="224028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 w="12700">
            <a:solidFill>
              <a:srgbClr val="6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20" y="3474720"/>
            <a:ext cx="1783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6F5AA8"/>
                </a:solidFill>
                <a:latin typeface="Microsoft YaHei"/>
                <a:ea typeface="Microsoft YaHei"/>
                <a:cs typeface="Microsoft YaHei"/>
              </a:rPr>
              <a:t>9/24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822191"/>
            <a:ext cx="178308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STP 生成树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709160"/>
            <a:ext cx="178308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869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分布式竞选出一棵无环树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45752" y="3337560"/>
            <a:ext cx="2048256" cy="224028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 w="12700">
            <a:solidFill>
              <a:srgbClr val="B94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73768" y="3474720"/>
            <a:ext cx="1783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10/9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3768" y="3822191"/>
            <a:ext cx="178308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Bufferbloat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73768" y="4709160"/>
            <a:ext cx="178308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869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队列、AQM、TSO/GSO 的影响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897880"/>
            <a:ext cx="10972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 → 4 → 5 有递进：STP 解决环路；AQM 解决大缓存导致的高队列延迟。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实验 1 · 互联网体系结构初识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一次网页访问里，能看到哪些协议？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9108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Mininet + Wireshark：先抓包，再按封装关系拆协议。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691640"/>
          <a:ext cx="7040880" cy="4206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68680"/>
                <a:gridCol w="2743200"/>
                <a:gridCol w="3429000"/>
              </a:tblGrid>
              <a:tr h="7010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</a:t>
                      </a:r>
                    </a:p>
                  </a:txBody>
                  <a:tcPr marL="73152" marR="54864" marT="41148" marB="41148" anchor="ctr">
                    <a:solidFill>
                      <a:srgbClr val="2F6F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主要作用</a:t>
                      </a:r>
                    </a:p>
                  </a:txBody>
                  <a:tcPr marL="73152" marR="54864" marT="41148" marB="41148" anchor="ctr">
                    <a:solidFill>
                      <a:srgbClr val="2F6F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本次实验中的表现</a:t>
                      </a:r>
                    </a:p>
                  </a:txBody>
                  <a:tcPr marL="73152" marR="54864" marT="41148" marB="41148" anchor="ctr">
                    <a:solidFill>
                      <a:srgbClr val="2F6FB0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ARP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同一链路内：IP → MAC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出现 “who has” 请求 / “is at” 应答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DNS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域名 → IP 地址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www.ucas.ac.cn → 124.16.77.5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可靠的字节流连接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与服务器 443 端口完成握手、传输、关闭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浏览器与 Web 服务器的请求/响应格式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本次走 HTTPS，HTTP 明文不可见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HTTPS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 HTTP 与 TCP 之间加入 TLS 加密和身份验证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TLS 握手 + 后续加密数据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09560" y="169164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EBF3FB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55864" y="1801368"/>
            <a:ext cx="338328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它们可以继续向下展开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5864" y="2167128"/>
            <a:ext cx="3383280" cy="365759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19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Ethernet &lt; IP &lt; UDP &lt; DNS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19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Ethernet &lt; IP &lt; TCP &lt; TLS &lt; HTTPS 数据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19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19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ARP 是个例外：它直接作为以太网载荷，没有更上层的封装。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19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19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能展开，正说明协议是分层的。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实验 1 · 一次访问的协议时间线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TCP/TLS 既在顶层，也在别人的下层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9108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508760"/>
          <a:ext cx="10972799" cy="397763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0240"/>
                <a:gridCol w="1097280"/>
                <a:gridCol w="7955279"/>
              </a:tblGrid>
              <a:tr h="56823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73152" marR="54864" marT="41148" marB="41148" anchor="ctr">
                    <a:solidFill>
                      <a:srgbClr val="2F6F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包编号</a:t>
                      </a:r>
                    </a:p>
                  </a:txBody>
                  <a:tcPr marL="73152" marR="54864" marT="41148" marB="41148" anchor="ctr">
                    <a:solidFill>
                      <a:srgbClr val="2F6F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观察结果</a:t>
                      </a:r>
                    </a:p>
                  </a:txBody>
                  <a:tcPr marL="73152" marR="54864" marT="41148" marB="41148" anchor="ctr">
                    <a:solidFill>
                      <a:srgbClr val="2F6FB0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DNS 查询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1–4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同时查 A / AAAA；A 记录返回 124.16.77.5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建立连接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5–7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SYN → SYN/ACK → ACK，三次握手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TLS 握手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8–18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协商加密参数、交换服务器证书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网页数据传输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19–66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服务器连续发送加密数据；客户端 ACK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关闭连接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67–69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FIN/ACK 结束；服务器把 ACK 与自己的 FIN 合并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ARP 交互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70–75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查询并应答局域网 IP 对应的 MAC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66928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EBF3FB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5779008"/>
            <a:ext cx="1069848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为什么 TCP/TLS 出现在两个位置？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6144768"/>
            <a:ext cx="10698480" cy="182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4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握手阶段它们在协议栈顶层；传输阶段 HTTP 又建立在 TLS/TCP 之上。分层不是固定的“一层只干一件事”，而是按阶段复用。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实验 1 · 时延测量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真实互联网比“光速直线”慢多少？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9108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63093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600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600200"/>
            <a:ext cx="438912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向实际服务器 IP 发 3 次 ICMP Echo，取最小 RTT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441448"/>
            <a:ext cx="63093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32888"/>
            <a:ext cx="1600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DNS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532888"/>
            <a:ext cx="438912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完成域名解析所需的时间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374136"/>
            <a:ext cx="63093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65576"/>
            <a:ext cx="1600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TCP transfer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465576"/>
            <a:ext cx="438912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从 HTTP 响应第一个字节，到接收完最后一个字节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306824"/>
            <a:ext cx="63093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98264"/>
            <a:ext cx="1600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Total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398264"/>
            <a:ext cx="438912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从开始请求，到完整接收响应的总时间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1508760"/>
            <a:ext cx="4389120" cy="1417320"/>
          </a:xfrm>
          <a:prstGeom prst="roundRect">
            <a:avLst>
              <a:gd name="adj" fmla="val 8000"/>
            </a:avLst>
          </a:prstGeom>
          <a:solidFill>
            <a:srgbClr val="EBF3FB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24344" y="1618488"/>
            <a:ext cx="41148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横轴：c-latency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24344" y="1984248"/>
            <a:ext cx="4114800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c-latency = 2 × distance / c
c = 299792.458 km/s
用大圆距离估一个“真空光速下界”。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8040" y="3154680"/>
            <a:ext cx="4389120" cy="1463040"/>
          </a:xfrm>
          <a:prstGeom prst="roundRect">
            <a:avLst>
              <a:gd name="adj" fmla="val 8000"/>
            </a:avLst>
          </a:prstGeom>
          <a:solidFill>
            <a:srgbClr val="EBF3FB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24344" y="3264408"/>
            <a:ext cx="41148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数据量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4344" y="3630168"/>
            <a:ext cx="41148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20,000 个网站 → 2,909 条有效数据
租阿里云服务器，约 3 小时抓取
小范围实验毛刺多，所以扩大样本。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040" y="4800600"/>
            <a:ext cx="4389120" cy="1234440"/>
          </a:xfrm>
          <a:prstGeom prst="roundRect">
            <a:avLst>
              <a:gd name="adj" fmla="val 8000"/>
            </a:avLst>
          </a:prstGeom>
          <a:solidFill>
            <a:srgbClr val="EBF3FB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24344" y="4910328"/>
            <a:ext cx="41148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比较方式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24344" y="5276088"/>
            <a:ext cx="411480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实际耗时 ÷ c-latency。越接近 1×，越接近传播下界。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实验 1 ·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真实互联网显著慢于真空光速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9108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pic>
        <p:nvPicPr>
          <p:cNvPr id="8" name="Picture 7" descr="01-latency-inflation-c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068" y="1371600"/>
            <a:ext cx="6139542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41732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67928" y="1527048"/>
            <a:ext cx="2889504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00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4.0×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7928" y="1929384"/>
            <a:ext cx="288950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Ping 中位数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2496312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67928" y="2606040"/>
            <a:ext cx="2889504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0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11.1×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7928" y="3008376"/>
            <a:ext cx="288950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DNS 中位数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3575304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3685032"/>
            <a:ext cx="2889504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000" b="1">
                <a:solidFill>
                  <a:srgbClr val="C97A1E"/>
                </a:solidFill>
                <a:latin typeface="Microsoft YaHei"/>
                <a:ea typeface="Microsoft YaHei"/>
                <a:cs typeface="Microsoft YaHei"/>
              </a:rPr>
              <a:t>4.5×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4087368"/>
            <a:ext cx="288950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TCP transfer 中位数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4654296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7928" y="4764024"/>
            <a:ext cx="2889504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00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58.6×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5166360"/>
            <a:ext cx="288950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Total HTTP 中位数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15000"/>
            <a:ext cx="7680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四条曲线的中位数都在 1× 右侧；Ping 最靠左、最陡，Total 最靠右、长尾最长。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5715000"/>
            <a:ext cx="31089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TCP transfer 约 1/3 样本 &lt; 1×，被截断在左边界。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实验 2 · Socket 应用编程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用 socket 把 HTTP/HTTPS 请求当成文件来处理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9108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44805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实验拓扑</a:t>
            </a:r>
          </a:p>
        </p:txBody>
      </p:sp>
      <p:pic>
        <p:nvPicPr>
          <p:cNvPr id="9" name="Picture 8" descr="sept10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80" y="1572768"/>
            <a:ext cx="4983319" cy="12070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2816352"/>
            <a:ext cx="5394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拓扑：h2 → s1 → h1；s1 是 OVS 交换机，h1-s1 链路 100 Mbit/s、10 ms。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24612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EBF7F1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3355848"/>
            <a:ext cx="51206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socket 是什么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3721608"/>
            <a:ext cx="512064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19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应用层看到的传输层抽象：像文件一样 read / write，底层由内核维护收发缓冲。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66344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EBF7F1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4773168"/>
            <a:ext cx="51206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实验分两步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5138927"/>
            <a:ext cx="512064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1. 框架已给定 socket 生命周期；按状态码处理 HTTP/HTTPS 文本。
2. 多请求并行：选择 epoll 端口复用，而不是 pthread。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463040"/>
            <a:ext cx="5303520" cy="2240280"/>
          </a:xfrm>
          <a:prstGeom prst="roundRect">
            <a:avLst>
              <a:gd name="adj" fmla="val 8000"/>
            </a:avLst>
          </a:prstGeom>
          <a:solidFill>
            <a:srgbClr val="EBF7F1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572768"/>
            <a:ext cx="50292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真正的挑战：epoll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1938528"/>
            <a:ext cx="5029200" cy="1691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不是“多开几个线程”那么简单。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一个线程里同时维护多个连接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每个连接有自己的状态、读/写缓冲、文件进度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事件就绪时处理；做不下去就保存现场、改关注事件、返回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840480"/>
            <a:ext cx="5303520" cy="2057400"/>
          </a:xfrm>
          <a:prstGeom prst="roundRect">
            <a:avLst>
              <a:gd name="adj" fmla="val 8000"/>
            </a:avLst>
          </a:prstGeom>
          <a:solidFill>
            <a:srgbClr val="EBF7F1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3950208"/>
            <a:ext cx="50292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epoll 三件事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4315968"/>
            <a:ext cx="50292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注册：告诉内核关注哪些 fd 的哪些事件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等待：阻塞到有事件就绪（一次最多 64 个）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处理：逐个处理；没完成就改关注事件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实验 2 · 连接对象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一个连接，就是一个显式状态机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9108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pic>
        <p:nvPicPr>
          <p:cNvPr id="8" name="Picture 7" descr="connection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51516"/>
            <a:ext cx="5212080" cy="196060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" y="493776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EBF7F1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5047488"/>
            <a:ext cx="493776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为什么放在一起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5413248"/>
            <a:ext cx="49377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19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状态、缓冲、文件进度都在同一个对象里；释放时统一处理，不会漏。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72200" y="1508760"/>
          <a:ext cx="5394960" cy="3246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0200"/>
                <a:gridCol w="3794760"/>
              </a:tblGrid>
              <a:tr h="5410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marL="73152" marR="54864" marT="41148" marB="41148" anchor="ctr">
                    <a:solidFill>
                      <a:srgbClr val="2E8B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marL="73152" marR="54864" marT="41148" marB="41148" anchor="ctr">
                    <a:solidFill>
                      <a:srgbClr val="2E8B57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fd / tls / ssl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套接字、是否 TLS、OpenSSL 连接对象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state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握手 / 读取 / 发送 / 关闭；监听对象是 LISTENER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input / used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已收到的请求数据与有效长度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output / output_len / sent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当前待发数据、块长度、已发长度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file_fd / offset / remaining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打开的文件、下一次读取位置、剩余字节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4937760"/>
            <a:ext cx="5394960" cy="1005840"/>
          </a:xfrm>
          <a:prstGeom prst="roundRect">
            <a:avLst>
              <a:gd name="adj" fmla="val 8000"/>
            </a:avLst>
          </a:prstGeom>
          <a:solidFill>
            <a:srgbClr val="EBF7F1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5047488"/>
            <a:ext cx="51206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归属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5413248"/>
            <a:ext cx="51206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4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每个 client 一份；状态、缓冲、文件进度都跟着对象走，不是两个端口共享。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实验 2 · epoll 事件循环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等待事件 → 循环处理 → 分派给 listener / connection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9108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pic>
        <p:nvPicPr>
          <p:cNvPr id="8" name="Picture 7" descr="02-socket-epoll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75863"/>
            <a:ext cx="10972800" cy="3037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754880"/>
            <a:ext cx="109728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epoll_wait 阻塞等待，一次最多 64 个就绪事件；处理完一个事件回到循环头，一组完成才回等待。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12064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EBF7F1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5230368"/>
            <a:ext cx="324612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listener 分支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5596127"/>
            <a:ext cx="3246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接受新连接 → 新建 connection 结构体并注册 → drive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512064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EBF7F1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5230368"/>
            <a:ext cx="324612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connection 分支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5596127"/>
            <a:ext cx="3246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直接 drive；从上次停下的状态继续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512064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EBF7F1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5230368"/>
            <a:ext cx="324612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做不下去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5596127"/>
            <a:ext cx="3246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记住进度、改 epoll 关注事件、返回等待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实验 2 · 每连接状态机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drive 一次可以连续走多个状态，不是每次都回等待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9108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8" name="Picture 7" descr="02-socket-fsm-automa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409" y="1234440"/>
            <a:ext cx="9156700" cy="4800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053328"/>
            <a:ext cx="5394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不是每次转移都回等待：READING 收齐请求头 → 直接 WRITING。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6053328"/>
            <a:ext cx="5394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EAGAIN / WANT_*：保存现场，改 epoll 关注事件，下次 drive 继续。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C97A1E"/>
                </a:solidFill>
                <a:latin typeface="Microsoft YaHei"/>
                <a:ea typeface="Microsoft YaHei"/>
                <a:cs typeface="Microsoft YaHei"/>
              </a:rPr>
              <a:t>实验 3 · Hub 与 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先读懂框架：侵入式链表和“填空”方法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9108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8" name="Picture 7" descr="li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65" y="1508760"/>
            <a:ext cx="6302828" cy="3200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1508760"/>
            <a:ext cx="4206240" cy="1417320"/>
          </a:xfrm>
          <a:prstGeom prst="roundRect">
            <a:avLst>
              <a:gd name="adj" fmla="val 8000"/>
            </a:avLst>
          </a:prstGeom>
          <a:solidFill>
            <a:srgbClr val="FCF4E8"/>
          </a:solidFill>
          <a:ln w="12700">
            <a:solidFill>
              <a:srgbClr val="C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07224" y="1618488"/>
            <a:ext cx="393192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侵入式链表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7224" y="1984248"/>
            <a:ext cx="3931920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list_head 嵌在对象里，不需要额外节点；list_entry 用成员地址反推对象。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063240"/>
            <a:ext cx="4206240" cy="1417320"/>
          </a:xfrm>
          <a:prstGeom prst="roundRect">
            <a:avLst>
              <a:gd name="adj" fmla="val 8000"/>
            </a:avLst>
          </a:prstGeom>
          <a:solidFill>
            <a:srgbClr val="FCF4E8"/>
          </a:solidFill>
          <a:ln w="12700">
            <a:solidFill>
              <a:srgbClr val="C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3172968"/>
            <a:ext cx="393192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读框架的方法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7224" y="3538728"/>
            <a:ext cx="3931920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先找 TODO 和调用链，不必通读全部代码；go to definition + 全局搜索。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892040"/>
            <a:ext cx="10972800" cy="1051560"/>
          </a:xfrm>
          <a:prstGeom prst="roundRect">
            <a:avLst>
              <a:gd name="adj" fmla="val 8000"/>
            </a:avLst>
          </a:prstGeom>
          <a:solidFill>
            <a:srgbClr val="FCF4E8"/>
          </a:solidFill>
          <a:ln w="12700">
            <a:solidFill>
              <a:srgbClr val="C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5001768"/>
            <a:ext cx="1069848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这一步的难点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367527"/>
            <a:ext cx="10698480" cy="5029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结构体和宏已经预定义好，但刚上手不容易理解；实验 3 的复杂度主要来自框架，而不是转发逻辑本身。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C97A1E"/>
                </a:solidFill>
                <a:latin typeface="Microsoft YaHei"/>
                <a:ea typeface="Microsoft YaHei"/>
                <a:cs typeface="Microsoft YaHei"/>
              </a:rPr>
              <a:t>实验 3 · 交换机怎么转发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Hub 广播；Switch 学 MAC、查表、单播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9108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CF4E8"/>
          </a:solidFill>
          <a:ln w="12700">
            <a:solidFill>
              <a:srgbClr val="C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527048"/>
            <a:ext cx="51206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Hub（物理层）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1892808"/>
            <a:ext cx="512064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19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没有 MAC 地址；收到帧就向其他所有端口复制。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74320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CF4E8"/>
          </a:solidFill>
          <a:ln w="12700">
            <a:solidFill>
              <a:srgbClr val="C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852928"/>
            <a:ext cx="51206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Switch（数据链路层）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3218688"/>
            <a:ext cx="512064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19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每个接口有自己的 MAC；整机一张全局 MAC 地址表。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17320"/>
            <a:ext cx="5394960" cy="2331720"/>
          </a:xfrm>
          <a:prstGeom prst="roundRect">
            <a:avLst>
              <a:gd name="adj" fmla="val 8000"/>
            </a:avLst>
          </a:prstGeom>
          <a:solidFill>
            <a:srgbClr val="FCF4E8"/>
          </a:solidFill>
          <a:ln w="12700">
            <a:solidFill>
              <a:srgbClr val="C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527048"/>
            <a:ext cx="51206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收到一帧之后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1892808"/>
            <a:ext cx="5120640" cy="17830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1. 查目的 MAC：命中 → 只从对应端口发出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2. 未命中 → 向其他端口泛洪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3. 学习源 MAC → 入接口，写入 MAC 表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4. 表项动态插入，30 s 老化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交换机对上层透明：上层只看 IP，不关心端口。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3192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FCF4E8"/>
          </a:solidFill>
          <a:ln w="12700">
            <a:solidFill>
              <a:srgbClr val="C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4041648"/>
            <a:ext cx="51206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MAC 表项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4407408"/>
            <a:ext cx="512064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每个表项：源 MAC + iface* + 最近访问时间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256 个哈希桶；30 s 老化；拓扑变化后重新学习。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160520"/>
            <a:ext cx="5394960" cy="1417320"/>
          </a:xfrm>
          <a:prstGeom prst="roundRect">
            <a:avLst>
              <a:gd name="adj" fmla="val 8000"/>
            </a:avLst>
          </a:prstGeom>
          <a:solidFill>
            <a:srgbClr val="FCF4E8"/>
          </a:solidFill>
          <a:ln w="12700">
            <a:solidFill>
              <a:srgbClr val="C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4270248"/>
            <a:ext cx="51206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一个容易混淆的点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4636008"/>
            <a:ext cx="5120640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iface_info_t 里每个接口各有一份 MAC；
mac_port_map 是整机一张学习表，不是“交换机 MAC”。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C97A1E"/>
                </a:solidFill>
                <a:latin typeface="Microsoft YaHei"/>
                <a:ea typeface="Microsoft YaHei"/>
                <a:cs typeface="Microsoft YaHei"/>
              </a:rPr>
              <a:t>实验 3 · 环路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一次 ping 如何在 6 秒内变成 20 万个帧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9108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8" name="Picture 7" descr="topology_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6627"/>
            <a:ext cx="3246120" cy="19673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474720"/>
            <a:ext cx="32461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环形拓扑：三个 Hub 首尾相连。</a:t>
            </a:r>
          </a:p>
        </p:txBody>
      </p:sp>
      <p:pic>
        <p:nvPicPr>
          <p:cNvPr id="10" name="Picture 9" descr="03-ring-broadcast-st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25880"/>
            <a:ext cx="4114800" cy="2880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69080" y="4251960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包速率约 33 kpps、吞吐贴着 20 Mbit/s，直到抓包结束都没有衰减。</a:t>
            </a:r>
          </a:p>
        </p:txBody>
      </p:sp>
      <p:pic>
        <p:nvPicPr>
          <p:cNvPr id="12" name="Picture 11" descr="03-ring-frame-compos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1340167"/>
            <a:ext cx="2743200" cy="18002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69680" y="3200400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ARP 41.2%；ICMP Echo Reply 58.5%；真正的 Echo Request 只有 0.2%。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365760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7" y="3767328"/>
            <a:ext cx="2523744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000" b="1">
                <a:solidFill>
                  <a:srgbClr val="C97A1E"/>
                </a:solidFill>
                <a:latin typeface="Microsoft YaHei"/>
                <a:ea typeface="Microsoft YaHei"/>
                <a:cs typeface="Microsoft YaHei"/>
              </a:rPr>
              <a:t>423.4×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7" y="4169664"/>
            <a:ext cx="2523744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6 秒内帧数放大倍数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800600"/>
            <a:ext cx="2743200" cy="1325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19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唯一签名的 Echo Request 只有 1 个，却复制出 483 个副本。
没有 STP，交换机也无法避免泛洪成环。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074920"/>
            <a:ext cx="7955279" cy="1097280"/>
          </a:xfrm>
          <a:prstGeom prst="roundRect">
            <a:avLst>
              <a:gd name="adj" fmla="val 8000"/>
            </a:avLst>
          </a:prstGeom>
          <a:solidFill>
            <a:srgbClr val="FCF4E8"/>
          </a:solidFill>
          <a:ln w="12700">
            <a:solidFill>
              <a:srgbClr val="C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5184648"/>
            <a:ext cx="7680959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为什么停不下来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5550408"/>
            <a:ext cx="768095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Hub 不学 MAC，广播帧在环里来回复制；帧没有 TTL，不会自己消失。STP 才能从逻辑上断开环路。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C97A1E"/>
                </a:solidFill>
                <a:latin typeface="Microsoft YaHei"/>
                <a:ea typeface="Microsoft YaHei"/>
                <a:cs typeface="Microsoft YaHei"/>
              </a:rPr>
              <a:t>实验 3 · Hub vs 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广播的代价：多条流共享同一条下行链路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9108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8" name="Picture 7" descr="topology_three_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19" y="1417320"/>
            <a:ext cx="452628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251960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简单拓扑：两台主机经 Hub / Switch 通信。</a:t>
            </a:r>
          </a:p>
        </p:txBody>
      </p:sp>
      <p:pic>
        <p:nvPicPr>
          <p:cNvPr id="10" name="Picture 9" descr="03-hub-vs-switch-through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128889"/>
            <a:ext cx="6217920" cy="26002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94960" y="5532120"/>
            <a:ext cx="62179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场景 A：Hub 两条流 5.85 / 2.99 Mbit/s；Switch 各自接近 9.4 Mbit/s。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617720"/>
            <a:ext cx="4572000" cy="1508760"/>
          </a:xfrm>
          <a:prstGeom prst="roundRect">
            <a:avLst>
              <a:gd name="adj" fmla="val 8000"/>
            </a:avLst>
          </a:prstGeom>
          <a:solidFill>
            <a:srgbClr val="FCF4E8"/>
          </a:solidFill>
          <a:ln w="12700">
            <a:solidFill>
              <a:srgbClr val="C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4727448"/>
            <a:ext cx="429768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5093208"/>
            <a:ext cx="4297680" cy="9601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Switch 点对点转发，合计吞吐约 2.12×；
Hub 把帧复制到所有端口，适合放在网络最末端。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6F5AA8"/>
                </a:solidFill>
                <a:latin typeface="Microsoft YaHei"/>
                <a:ea typeface="Microsoft YaHei"/>
                <a:cs typeface="Microsoft YaHei"/>
              </a:rPr>
              <a:t>实验 4 · STP 生成树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每个端口保存自己的最优结果，主机仲裁根端口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9108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8" name="Picture 7" descr="04-seven-node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59280"/>
            <a:ext cx="5120640" cy="34137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760720"/>
            <a:ext cx="51206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七节点拓扑：最终只保留一棵无环生成树。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41732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 w="12700">
            <a:solidFill>
              <a:srgbClr val="6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35624" y="1527048"/>
            <a:ext cx="530352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分布式竞选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5624" y="1892808"/>
            <a:ext cx="5303520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每台交换机先认为自己是根；交换 BPDU 后，按优先级逐步收敛。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2971800"/>
            <a:ext cx="5577840" cy="16916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 w="12700">
            <a:solidFill>
              <a:srgbClr val="6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5624" y="3081528"/>
            <a:ext cx="530352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比较顺序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624" y="3447288"/>
            <a:ext cx="530352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根桥 ID → 到根开销 → 指定桥 ID → 指定端口 ID。
最后两项保证任意两个向量都能分出唯一胜负。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4800600"/>
            <a:ext cx="5577840" cy="109728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 w="12700">
            <a:solidFill>
              <a:srgbClr val="6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5624" y="4910328"/>
            <a:ext cx="530352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一个细节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5276088"/>
            <a:ext cx="53035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路径开销只能加一次：在交换机层加，避免两个端口对同一段链路重复加代价。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94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实验 5 · Bufferbloat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缓冲越大，RTT 越高，但吞吐并没有提高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9108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8" name="Picture 7" descr="05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46" y="1371600"/>
            <a:ext cx="3880747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754880"/>
            <a:ext cx="39319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 Mbit 瓶颈 + maxq 缓冲；下半部分是 AQM 对比拓扑。</a:t>
            </a:r>
          </a:p>
        </p:txBody>
      </p:sp>
      <p:pic>
        <p:nvPicPr>
          <p:cNvPr id="10" name="Picture 9" descr="05-bufferbloat-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79" y="1350889"/>
            <a:ext cx="6812280" cy="42933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54880" y="5715000"/>
            <a:ext cx="6812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maxq = 10 / 50 / 200 / 1000：缓冲越大，cwnd / 队列 / RTT 锯齿越大、周期越长。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074920"/>
            <a:ext cx="1874519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5184648"/>
            <a:ext cx="1655063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00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652→57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586983"/>
            <a:ext cx="1655063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maxq 1000→50，RTT 中位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74920"/>
            <a:ext cx="1874519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1488" y="5184648"/>
            <a:ext cx="1655063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00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9.5 Mbit/s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5586983"/>
            <a:ext cx="1655063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吞吐不变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94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实验 5 · AQM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延迟可以独立于吞吐来优化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9108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8" name="Picture 7" descr="05-aqm-r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18" y="1417320"/>
            <a:ext cx="5354082" cy="3383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89204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RTT：taildrop 在低速相位冲到 5–8 s；RED 约 0.8 s；CoDel 10–50 ms。</a:t>
            </a:r>
          </a:p>
        </p:txBody>
      </p:sp>
      <p:pic>
        <p:nvPicPr>
          <p:cNvPr id="10" name="Picture 9" descr="05-aqm-through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110" y="1417320"/>
            <a:ext cx="4276578" cy="3383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4892040"/>
            <a:ext cx="5303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吞吐：虚线是服务端线上速率；三种规则几乎完全重合。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303520"/>
            <a:ext cx="10972800" cy="82296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 w="12700">
            <a:solidFill>
              <a:srgbClr val="B94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5413248"/>
            <a:ext cx="1069848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5779008"/>
            <a:ext cx="106984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3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taildrop p95 6.1 s，RED 0.8 s，CoDel 59 ms；三者总交付量都约 298 MB。CoDel 用“排队停留时间”而不是“队列长度”做控制。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94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实验 5 · 一个意外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TSO/GSO 会把 mininet 队列里的包“放大”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9108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pic>
        <p:nvPicPr>
          <p:cNvPr id="8" name="Picture 7" descr="05-tso-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50" y="1417320"/>
            <a:ext cx="5919258" cy="388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394960"/>
            <a:ext cx="6035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taildrop：TSO/GSO 开 vs 关，队列字节和 RTT 相差一个数量级。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463040"/>
            <a:ext cx="4663440" cy="182880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 w="12700">
            <a:solidFill>
              <a:srgbClr val="B94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0024" y="1572768"/>
            <a:ext cx="438912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为什么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0024" y="1938528"/>
            <a:ext cx="4389120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开启 TSO/GSO 时，网络包由物理网卡切片；在 mininet 的软件队列里，相当于每个包都膨胀。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3474720"/>
            <a:ext cx="4663440" cy="182880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 w="12700">
            <a:solidFill>
              <a:srgbClr val="B94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0024" y="3584448"/>
            <a:ext cx="438912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为什么 RED / CoDel 不受太大影响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3950208"/>
            <a:ext cx="4389120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RED 的 avpkt 阈值按字节；CoDel 的控制量是排队时间。
它们不按“包个数”做判断。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五次实验放在一张表里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9108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508760"/>
          <a:ext cx="10972800" cy="3246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2920"/>
                <a:gridCol w="2926080"/>
                <a:gridCol w="7543800"/>
              </a:tblGrid>
              <a:tr h="5410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</a:t>
                      </a:r>
                    </a:p>
                  </a:txBody>
                  <a:tcPr marL="73152" marR="54864" marT="41148" marB="41148" anchor="ctr">
                    <a:solidFill>
                      <a:srgbClr val="2F6F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</a:t>
                      </a:r>
                    </a:p>
                  </a:txBody>
                  <a:tcPr marL="73152" marR="54864" marT="41148" marB="41148" anchor="ctr">
                    <a:solidFill>
                      <a:srgbClr val="2F6F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实验目的</a:t>
                      </a:r>
                    </a:p>
                  </a:txBody>
                  <a:tcPr marL="73152" marR="54864" marT="41148" marB="41148" anchor="ctr">
                    <a:solidFill>
                      <a:srgbClr val="2F6FB0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互联网体系结构初识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理解网络分层结构；了解衡量网络性能的指标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Socket 编程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理解应用层如何处理 HTTP/HTTPS；优化端口复用效率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Hub 与 Switch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理解物理层和数据链路层设备与功能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STP 生成树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理解数据链路层设备如何消除环路</a:t>
                      </a:r>
                    </a:p>
                  </a:txBody>
                  <a:tcPr marL="73152" marR="54864" marT="41148" marB="41148" anchor="ctr">
                    <a:solidFill>
                      <a:srgbClr val="F7F9FC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Bufferbloat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理解上层协议对下层设备的影响；优化队列延迟</a:t>
                      </a:r>
                    </a:p>
                  </a:txBody>
                  <a:tcPr marL="73152" marR="54864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498348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FCF4E8"/>
          </a:solidFill>
          <a:ln w="12700">
            <a:solidFill>
              <a:srgbClr val="C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5093208"/>
            <a:ext cx="50292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3 → 4 → 5 的递进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5458968"/>
            <a:ext cx="50292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69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STP 解决交换机的环路；AQM 解决大缓存导致的高队列延迟。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98348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EBF3FB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5093208"/>
            <a:ext cx="50292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两个收获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5458968"/>
            <a:ext cx="50292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69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分层抽象降低理解成本；但分层不能解耦性能问题。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234440"/>
            <a:ext cx="109728" cy="15544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188720"/>
            <a:ext cx="987552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最后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结构上看清层级，性能上看到跨层耦合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34640"/>
            <a:ext cx="1042416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每个实验都落在明确的网络层级上；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但 TCP 的 AIMD、队列和缓存又会把不同层绑在一起。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06440"/>
            <a:ext cx="104241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5897880"/>
            <a:ext cx="39319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吴峥 · 2024K80099013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